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67a3a8e-344e-5e73-79dc-39a972f2b0ab}">
          <p14:sldIdLst>
            <p14:sldId id="256"/>
          </p14:sldIdLst>
        </p14:section>
        <p14:section name="Problem and solution" id="{9ad018c9-18f5-756f-2fba-676aa5211328}">
          <p14:sldIdLst>
            <p14:sldId id="257"/>
          </p14:sldIdLst>
        </p14:section>
        <p14:section name="Demo" id="{745370d5-60b5-ca40-a8af-56d18c855531}">
          <p14:sldIdLst>
            <p14:sldId id="258"/>
          </p14:sldIdLst>
        </p14:section>
        <p14:section name="AI for Good" id="{ef798c32-76df-1b3e-cdd7-34604ddbb3a5}">
          <p14:sldIdLst>
            <p14:sldId id="259"/>
          </p14:sldIdLst>
        </p14:section>
        <p14:section name="What's new" id="{f2c0055e-9a86-7d6a-0eed-23ae281903c0}">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Hi, we're Team GoingOnce. At every car auction you hear 'going once, going twice'... but a lot of cars never hear 'sold'. And ACV only earns when a car sells. We built four AI agents for the combined ACV and Copart that get more cars to 'sold'.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0:15–1:15
Situation: ACV runs 20-minute online auctions for dealers, Copart sells damaged cars to buyers worldwide, and they're becoming one company. But cars still go unsold: the right buyer isn't watching, the price doesn't meet, or hidden damage scares buyers off. And ACV only earns on a sale.
Task: turn more listings into sales, catch hidden damage before anyone buys, and move cars at the lowest cost.
Action: GoingOnce is four AI agents that do the work while people approve every money step: Buy, Sell, Negotiate, Fleet.
Result: hidden damage is caught before anyone buys, buyers are lined up before the auction starts, price gaps get closed instead of killing the deal, and fleets sell without flooding a market. Let's see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1:15–3:45 (demo video, about 2.5 minutes)
Buy: 'Reason one: buyers can't find the right car, or can't trust it. It searched ACV and Copart and checked every car's history. This cheap one was flooded and hidden behind a clean title. Nothing is bought without his OK.'
Sell: 'Reason two: the right buyer isn't watching during the auction. AI wrote the condition report, ACV pays her the most, and three buyers are already waiting, including the dealer we just saw.'
Negotiate: 'Reason three: the seller wants $15,000, the top bid is $12,000. The AI shows real market prices, they meet in three rounds, and it closes itself: payment, insurance, loan payoff, title, truck.'
Fleet: 'Reason four is scale. A rental company sells 120 similar cars at once. The agent spreads them across cities in full trucks, so prices hold and shipping stays cheap.'
To add the video: Insert &gt; Video &gt; Video from File, then drag it over the dark area on the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3:45–4:25
Why this is AI for Good: it protects families from flood cars, washed titles and odometer fraud before anyone buys. Deals are fair: each side keeps its own limit and sees real market prices. It cuts waste: full trucks instead of single trips, and unsold cars reach buyers worldwide instead of the scrapyard. And people stay in control: the AI never spends money or signs anything without a person's 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4:25–5:00
What's new? Buy joins ACV and Copart records, so it catches title-washed cars no single company can see. Sell flips the auction: the car finds its buyer before the auction even starts. Negotiate keeps each side's limit private, closes the gap, and then closes the deal on its own. Fleet plans where every truckload goes, so a big fleet sale doesn't crash prices. Next, we connect it to ACV and Copart's real systems, then build a Car Health Score for lenders and insurers. Going once, going twice... sold.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O 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583680" cy="1188720"/>
          </a:xfrm>
          <a:prstGeom prst="rect">
            <a:avLst/>
          </a:prstGeom>
          <a:noFill/>
          <a:ln/>
        </p:spPr>
        <p:txBody>
          <a:bodyPr wrap="square" rtlCol="0"/>
          <a:lstStyle>
            <a:lvl1pPr algn="l" indent="0" marL="0">
              <a:buNone/>
              <a:defRPr lang="en-US" sz="6600" b="1" dirty="0">
                <a:solidFill>
                  <a:schemeClr val="bg1"/>
                </a:solidFill>
              </a:defRPr>
            </a:lvl1pPr>
          </a:lstStyle>
          <a:p>
            <a:pPr algn="l" indent="0" marL="0">
              <a:buNone/>
            </a:pPr>
            <a:endParaRPr lang="en-US" sz="6600" dirty="0"/>
          </a:p>
        </p:txBody>
      </p:sp>
      <p:sp>
        <p:nvSpPr>
          <p:cNvPr id="3" name="Text 0"/>
          <p:cNvSpPr/>
          <p:nvPr>
            <p:ph idx="101" type="body" hasCustomPrompt="1"/>
          </p:nvPr>
        </p:nvSpPr>
        <p:spPr>
          <a:xfrm>
            <a:off x="731520" y="3154680"/>
            <a:ext cx="6583680" cy="1188720"/>
          </a:xfrm>
          <a:prstGeom prst="rect">
            <a:avLst/>
          </a:prstGeom>
          <a:noFill/>
          <a:ln/>
        </p:spPr>
        <p:txBody>
          <a:bodyPr wrap="square" rtlCol="0"/>
          <a:lstStyle>
            <a:lvl1pPr algn="l" indent="0" marL="0">
              <a:buNone/>
              <a:defRPr lang="en-US" sz="2200" dirty="0">
                <a:solidFill>
                  <a:schemeClr val="bg1"/>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O Content 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3" name="Text 0"/>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tx2"/>
                </a:solidFill>
              </a:rPr>
              <a:t>GoingOnce  ·  UB AI for Good Hackathon 2026</a:t>
            </a:r>
            <a:endParaRPr lang="en-US" sz="10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O Content 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bg2"/>
                </a:solidFill>
              </a:rPr>
              <a:t>GoingOnce  ·  UB AI for Good Hackathon 2026</a:t>
            </a:r>
            <a:endParaRPr lang="en-US" sz="10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3.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4.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am name"/>
          <p:cNvSpPr txBox="1"/>
          <p:nvPr/>
        </p:nvSpPr>
        <p:spPr>
          <a:xfrm>
            <a:off x="731520" y="1417320"/>
            <a:ext cx="5486400" cy="365760"/>
          </a:xfrm>
          <a:prstGeom prst="rect">
            <a:avLst/>
          </a:prstGeom>
          <a:noFill/>
          <a:ln/>
        </p:spPr>
        <p:txBody>
          <a:bodyPr wrap="square" lIns="0" tIns="0" rIns="0" bIns="0" rtlCol="0" anchor="ctr"/>
          <a:lstStyle/>
          <a:p>
            <a:pPr indent="0" marL="0">
              <a:buNone/>
            </a:pPr>
            <a:r>
              <a:rPr lang="en-US" sz="1400" b="1" spc="400" kern="0" dirty="0">
                <a:solidFill>
                  <a:schemeClr val="accent2"/>
                </a:solidFill>
              </a:rPr>
              <a:t>TEAM GOINGONCE</a:t>
            </a:r>
            <a:endParaRPr lang="en-US" sz="1400" dirty="0"/>
          </a:p>
        </p:txBody>
      </p:sp>
      <p:sp>
        <p:nvSpPr>
          <p:cNvPr id="3" name="Text 0"/>
          <p:cNvSpPr/>
          <p:nvPr>
            <p:ph idx="100" type="title" hasCustomPrompt="1"/>
          </p:nvPr>
        </p:nvSpPr>
        <p:spPr>
          <a:xfrm>
            <a:off x="731520" y="1828800"/>
            <a:ext cx="6583680" cy="1188720"/>
          </a:xfrm>
          <a:prstGeom prst="rect">
            <a:avLst/>
          </a:prstGeom>
          <a:noFill/>
          <a:ln/>
        </p:spPr>
        <p:txBody>
          <a:bodyPr wrap="square" lIns="0" tIns="0" rIns="0" bIns="0" rtlCol="0" anchor="b"/>
          <a:lstStyle/>
          <a:p>
            <a:pPr algn="l" indent="0" marL="0">
              <a:buNone/>
            </a:pPr>
            <a:r>
              <a:rPr lang="en-US" sz="6600" b="1" dirty="0">
                <a:solidFill>
                  <a:schemeClr val="bg1"/>
                </a:solidFill>
              </a:rPr>
              <a:t>GoingOnce</a:t>
            </a:r>
            <a:endParaRPr lang="en-US" sz="6600" dirty="0"/>
          </a:p>
        </p:txBody>
      </p:sp>
      <p:sp>
        <p:nvSpPr>
          <p:cNvPr id="4" name="Text 0"/>
          <p:cNvSpPr/>
          <p:nvPr>
            <p:ph idx="101" type="body" hasCustomPrompt="1"/>
          </p:nvPr>
        </p:nvSpPr>
        <p:spPr>
          <a:xfrm>
            <a:off x="731520" y="3154680"/>
            <a:ext cx="6583680" cy="1188720"/>
          </a:xfrm>
          <a:prstGeom prst="rect">
            <a:avLst/>
          </a:prstGeom>
          <a:noFill/>
          <a:ln/>
        </p:spPr>
        <p:txBody>
          <a:bodyPr wrap="square" lIns="0" tIns="0" rIns="0" bIns="0" rtlCol="0" anchor="t"/>
          <a:lstStyle/>
          <a:p>
            <a:pPr algn="l" indent="0" marL="0">
              <a:buNone/>
            </a:pPr>
            <a:r>
              <a:rPr lang="en-US" sz="2200" dirty="0">
                <a:solidFill>
                  <a:schemeClr val="bg1"/>
                </a:solidFill>
              </a:rPr>
              <a:t>Going once, going twice… </a:t>
            </a:r>
            <a:pPr algn="l" indent="0" marL="0">
              <a:buNone/>
            </a:pPr>
            <a:r>
              <a:rPr lang="en-US" sz="2200" b="1" dirty="0">
                <a:solidFill>
                  <a:schemeClr val="accent1"/>
                </a:solidFill>
              </a:rPr>
              <a:t>SOLD.</a:t>
            </a:r>
            <a:endParaRPr lang="en-US" sz="2200" dirty="0"/>
          </a:p>
          <a:p>
            <a:pPr algn="l" indent="0" marL="0">
              <a:buNone/>
            </a:pPr>
            <a:r>
              <a:rPr lang="en-US" sz="1800" dirty="0">
                <a:solidFill>
                  <a:schemeClr val="bg2"/>
                </a:solidFill>
              </a:rPr>
              <a:t>Every car finds its best buyer, across ACV and Copart.</a:t>
            </a:r>
            <a:endParaRPr lang="en-US" sz="2200" dirty="0"/>
          </a:p>
        </p:txBody>
      </p:sp>
      <p:sp>
        <p:nvSpPr>
          <p:cNvPr id="5" name="Event line"/>
          <p:cNvSpPr txBox="1"/>
          <p:nvPr/>
        </p:nvSpPr>
        <p:spPr>
          <a:xfrm>
            <a:off x="731520" y="5897880"/>
            <a:ext cx="6949440" cy="365760"/>
          </a:xfrm>
          <a:prstGeom prst="rect">
            <a:avLst/>
          </a:prstGeom>
          <a:noFill/>
          <a:ln/>
        </p:spPr>
        <p:txBody>
          <a:bodyPr wrap="square" lIns="0" tIns="0" rIns="0" bIns="0" rtlCol="0" anchor="ctr"/>
          <a:lstStyle/>
          <a:p>
            <a:pPr indent="0" marL="0">
              <a:buNone/>
            </a:pPr>
            <a:r>
              <a:rPr lang="en-US" sz="1400" dirty="0">
                <a:solidFill>
                  <a:schemeClr val="bg2"/>
                </a:solidFill>
              </a:rPr>
              <a:t>UB AI for Good Hackathon  ·  ACV Auctions + Copart Challenge  ·  October 3, 2026</a:t>
            </a:r>
            <a:endParaRPr lang="en-US" sz="1400" dirty="0"/>
          </a:p>
        </p:txBody>
      </p:sp>
      <p:sp>
        <p:nvSpPr>
          <p:cNvPr id="6" name="Stamp ring"/>
          <p:cNvSpPr/>
          <p:nvPr/>
        </p:nvSpPr>
        <p:spPr>
          <a:xfrm>
            <a:off x="8001000" y="868680"/>
            <a:ext cx="3383280" cy="3383280"/>
          </a:xfrm>
          <a:prstGeom prst="ellipse">
            <a:avLst/>
          </a:prstGeom>
          <a:solidFill>
            <a:schemeClr val="tx1"/>
          </a:solidFill>
          <a:ln w="38100">
            <a:solidFill>
              <a:schemeClr val="accent2"/>
            </a:solidFill>
            <a:prstDash val="solid"/>
          </a:ln>
        </p:spPr>
      </p:sp>
      <p:sp>
        <p:nvSpPr>
          <p:cNvPr id="7" name="Gavel circle"/>
          <p:cNvSpPr/>
          <p:nvPr/>
        </p:nvSpPr>
        <p:spPr>
          <a:xfrm>
            <a:off x="8366760" y="1234440"/>
            <a:ext cx="2651760" cy="2651760"/>
          </a:xfrm>
          <a:prstGeom prst="ellipse">
            <a:avLst/>
          </a:prstGeom>
          <a:solidFill>
            <a:schemeClr val="accent1"/>
          </a:solidFill>
          <a:ln w="12700">
            <a:solidFill>
              <a:schemeClr val="accent1"/>
            </a:solidFill>
            <a:prstDash val="solid"/>
          </a:ln>
        </p:spPr>
      </p:sp>
      <p:pic>
        <p:nvPicPr>
          <p:cNvPr id="8" name="Gavel icon" descr="preencoded.png">    </p:cNvPr>
          <p:cNvPicPr>
            <a:picLocks noChangeAspect="1"/>
          </p:cNvPicPr>
          <p:nvPr/>
        </p:nvPicPr>
        <p:blipFill>
          <a:blip r:embed="rId1"/>
          <a:stretch>
            <a:fillRect/>
          </a:stretch>
        </p:blipFill>
        <p:spPr>
          <a:xfrm>
            <a:off x="9029700" y="1897380"/>
            <a:ext cx="1325880" cy="1325880"/>
          </a:xfrm>
          <a:prstGeom prst="rect">
            <a:avLst/>
          </a:prstGeom>
        </p:spPr>
      </p:pic>
      <p:sp>
        <p:nvSpPr>
          <p:cNvPr id="9" name="Agent Buy circle"/>
          <p:cNvSpPr/>
          <p:nvPr/>
        </p:nvSpPr>
        <p:spPr>
          <a:xfrm>
            <a:off x="7818120" y="4709160"/>
            <a:ext cx="621792" cy="621792"/>
          </a:xfrm>
          <a:prstGeom prst="ellipse">
            <a:avLst/>
          </a:prstGeom>
          <a:solidFill>
            <a:schemeClr val="accent6"/>
          </a:solidFill>
          <a:ln w="12700">
            <a:solidFill>
              <a:schemeClr val="accent6"/>
            </a:solidFill>
            <a:prstDash val="solid"/>
          </a:ln>
        </p:spPr>
      </p:sp>
      <p:pic>
        <p:nvPicPr>
          <p:cNvPr id="10" name="Agent Buy icon" descr="preencoded.png">    </p:cNvPr>
          <p:cNvPicPr>
            <a:picLocks noChangeAspect="1"/>
          </p:cNvPicPr>
          <p:nvPr/>
        </p:nvPicPr>
        <p:blipFill>
          <a:blip r:embed="rId2"/>
          <a:stretch>
            <a:fillRect/>
          </a:stretch>
        </p:blipFill>
        <p:spPr>
          <a:xfrm>
            <a:off x="7973568" y="4864608"/>
            <a:ext cx="310896" cy="310896"/>
          </a:xfrm>
          <a:prstGeom prst="rect">
            <a:avLst/>
          </a:prstGeom>
        </p:spPr>
      </p:pic>
      <p:sp>
        <p:nvSpPr>
          <p:cNvPr id="11" name="Agent Buy label"/>
          <p:cNvSpPr txBox="1"/>
          <p:nvPr/>
        </p:nvSpPr>
        <p:spPr>
          <a:xfrm>
            <a:off x="7543800" y="5394960"/>
            <a:ext cx="1170432" cy="320040"/>
          </a:xfrm>
          <a:prstGeom prst="rect">
            <a:avLst/>
          </a:prstGeom>
          <a:noFill/>
          <a:ln/>
        </p:spPr>
        <p:txBody>
          <a:bodyPr wrap="square" lIns="0" tIns="0" rIns="0" bIns="0" rtlCol="0" anchor="ctr"/>
          <a:lstStyle/>
          <a:p>
            <a:pPr algn="ctr" indent="0" marL="0">
              <a:buNone/>
            </a:pPr>
            <a:r>
              <a:rPr lang="en-US" sz="1300" dirty="0">
                <a:solidFill>
                  <a:schemeClr val="bg1"/>
                </a:solidFill>
              </a:rPr>
              <a:t>Buy</a:t>
            </a:r>
            <a:endParaRPr lang="en-US" sz="1300" dirty="0"/>
          </a:p>
        </p:txBody>
      </p:sp>
      <p:sp>
        <p:nvSpPr>
          <p:cNvPr id="12" name="Agent Sell circle"/>
          <p:cNvSpPr/>
          <p:nvPr/>
        </p:nvSpPr>
        <p:spPr>
          <a:xfrm>
            <a:off x="8869680" y="4709160"/>
            <a:ext cx="621792" cy="621792"/>
          </a:xfrm>
          <a:prstGeom prst="ellipse">
            <a:avLst/>
          </a:prstGeom>
          <a:solidFill>
            <a:schemeClr val="accent6"/>
          </a:solidFill>
          <a:ln w="12700">
            <a:solidFill>
              <a:schemeClr val="accent6"/>
            </a:solidFill>
            <a:prstDash val="solid"/>
          </a:ln>
        </p:spPr>
      </p:sp>
      <p:pic>
        <p:nvPicPr>
          <p:cNvPr id="13" name="Agent Sell icon" descr="preencoded.png">    </p:cNvPr>
          <p:cNvPicPr>
            <a:picLocks noChangeAspect="1"/>
          </p:cNvPicPr>
          <p:nvPr/>
        </p:nvPicPr>
        <p:blipFill>
          <a:blip r:embed="rId3"/>
          <a:stretch>
            <a:fillRect/>
          </a:stretch>
        </p:blipFill>
        <p:spPr>
          <a:xfrm>
            <a:off x="9025128" y="4864608"/>
            <a:ext cx="310896" cy="310896"/>
          </a:xfrm>
          <a:prstGeom prst="rect">
            <a:avLst/>
          </a:prstGeom>
        </p:spPr>
      </p:pic>
      <p:sp>
        <p:nvSpPr>
          <p:cNvPr id="14" name="Agent Sell label"/>
          <p:cNvSpPr txBox="1"/>
          <p:nvPr/>
        </p:nvSpPr>
        <p:spPr>
          <a:xfrm>
            <a:off x="8595360" y="5394960"/>
            <a:ext cx="1170432" cy="320040"/>
          </a:xfrm>
          <a:prstGeom prst="rect">
            <a:avLst/>
          </a:prstGeom>
          <a:noFill/>
          <a:ln/>
        </p:spPr>
        <p:txBody>
          <a:bodyPr wrap="square" lIns="0" tIns="0" rIns="0" bIns="0" rtlCol="0" anchor="ctr"/>
          <a:lstStyle/>
          <a:p>
            <a:pPr algn="ctr" indent="0" marL="0">
              <a:buNone/>
            </a:pPr>
            <a:r>
              <a:rPr lang="en-US" sz="1300" dirty="0">
                <a:solidFill>
                  <a:schemeClr val="bg1"/>
                </a:solidFill>
              </a:rPr>
              <a:t>Sell</a:t>
            </a:r>
            <a:endParaRPr lang="en-US" sz="1300" dirty="0"/>
          </a:p>
        </p:txBody>
      </p:sp>
      <p:sp>
        <p:nvSpPr>
          <p:cNvPr id="15" name="Agent Negotiate circle"/>
          <p:cNvSpPr/>
          <p:nvPr/>
        </p:nvSpPr>
        <p:spPr>
          <a:xfrm>
            <a:off x="9921240" y="4709160"/>
            <a:ext cx="621792" cy="621792"/>
          </a:xfrm>
          <a:prstGeom prst="ellipse">
            <a:avLst/>
          </a:prstGeom>
          <a:solidFill>
            <a:schemeClr val="accent6"/>
          </a:solidFill>
          <a:ln w="12700">
            <a:solidFill>
              <a:schemeClr val="accent6"/>
            </a:solidFill>
            <a:prstDash val="solid"/>
          </a:ln>
        </p:spPr>
      </p:sp>
      <p:pic>
        <p:nvPicPr>
          <p:cNvPr id="16" name="Agent Negotiate icon" descr="preencoded.png">    </p:cNvPr>
          <p:cNvPicPr>
            <a:picLocks noChangeAspect="1"/>
          </p:cNvPicPr>
          <p:nvPr/>
        </p:nvPicPr>
        <p:blipFill>
          <a:blip r:embed="rId4"/>
          <a:stretch>
            <a:fillRect/>
          </a:stretch>
        </p:blipFill>
        <p:spPr>
          <a:xfrm>
            <a:off x="10076688" y="4864608"/>
            <a:ext cx="310896" cy="310896"/>
          </a:xfrm>
          <a:prstGeom prst="rect">
            <a:avLst/>
          </a:prstGeom>
        </p:spPr>
      </p:pic>
      <p:sp>
        <p:nvSpPr>
          <p:cNvPr id="17" name="Agent Negotiate label"/>
          <p:cNvSpPr txBox="1"/>
          <p:nvPr/>
        </p:nvSpPr>
        <p:spPr>
          <a:xfrm>
            <a:off x="9646920" y="5394960"/>
            <a:ext cx="1170432" cy="320040"/>
          </a:xfrm>
          <a:prstGeom prst="rect">
            <a:avLst/>
          </a:prstGeom>
          <a:noFill/>
          <a:ln/>
        </p:spPr>
        <p:txBody>
          <a:bodyPr wrap="square" lIns="0" tIns="0" rIns="0" bIns="0" rtlCol="0" anchor="ctr"/>
          <a:lstStyle/>
          <a:p>
            <a:pPr algn="ctr" indent="0" marL="0">
              <a:buNone/>
            </a:pPr>
            <a:r>
              <a:rPr lang="en-US" sz="1300" dirty="0">
                <a:solidFill>
                  <a:schemeClr val="bg1"/>
                </a:solidFill>
              </a:rPr>
              <a:t>Negotiate</a:t>
            </a:r>
            <a:endParaRPr lang="en-US" sz="1300" dirty="0"/>
          </a:p>
        </p:txBody>
      </p:sp>
      <p:sp>
        <p:nvSpPr>
          <p:cNvPr id="18" name="Agent Fleet circle"/>
          <p:cNvSpPr/>
          <p:nvPr/>
        </p:nvSpPr>
        <p:spPr>
          <a:xfrm>
            <a:off x="10972800" y="4709160"/>
            <a:ext cx="621792" cy="621792"/>
          </a:xfrm>
          <a:prstGeom prst="ellipse">
            <a:avLst/>
          </a:prstGeom>
          <a:solidFill>
            <a:schemeClr val="accent6"/>
          </a:solidFill>
          <a:ln w="12700">
            <a:solidFill>
              <a:schemeClr val="accent6"/>
            </a:solidFill>
            <a:prstDash val="solid"/>
          </a:ln>
        </p:spPr>
      </p:sp>
      <p:pic>
        <p:nvPicPr>
          <p:cNvPr id="19" name="Agent Fleet icon" descr="preencoded.png">    </p:cNvPr>
          <p:cNvPicPr>
            <a:picLocks noChangeAspect="1"/>
          </p:cNvPicPr>
          <p:nvPr/>
        </p:nvPicPr>
        <p:blipFill>
          <a:blip r:embed="rId5"/>
          <a:stretch>
            <a:fillRect/>
          </a:stretch>
        </p:blipFill>
        <p:spPr>
          <a:xfrm>
            <a:off x="11128248" y="4864608"/>
            <a:ext cx="310896" cy="310896"/>
          </a:xfrm>
          <a:prstGeom prst="rect">
            <a:avLst/>
          </a:prstGeom>
        </p:spPr>
      </p:pic>
      <p:sp>
        <p:nvSpPr>
          <p:cNvPr id="20" name="Agent Fleet label"/>
          <p:cNvSpPr txBox="1"/>
          <p:nvPr/>
        </p:nvSpPr>
        <p:spPr>
          <a:xfrm>
            <a:off x="10698480" y="5394960"/>
            <a:ext cx="1170432" cy="320040"/>
          </a:xfrm>
          <a:prstGeom prst="rect">
            <a:avLst/>
          </a:prstGeom>
          <a:noFill/>
          <a:ln/>
        </p:spPr>
        <p:txBody>
          <a:bodyPr wrap="square" lIns="0" tIns="0" rIns="0" bIns="0" rtlCol="0" anchor="ctr"/>
          <a:lstStyle/>
          <a:p>
            <a:pPr algn="ctr" indent="0" marL="0">
              <a:buNone/>
            </a:pPr>
            <a:r>
              <a:rPr lang="en-US" sz="1300" dirty="0">
                <a:solidFill>
                  <a:schemeClr val="bg1"/>
                </a:solidFill>
              </a:rPr>
              <a:t>Fleet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lIns="0" tIns="0" rIns="0" bIns="0" rtlCol="0" anchor="ctr"/>
          <a:lstStyle/>
          <a:p>
            <a:pPr algn="l" indent="0" marL="0">
              <a:buNone/>
            </a:pPr>
            <a:r>
              <a:rPr lang="en-US" sz="3600" b="1" dirty="0">
                <a:solidFill>
                  <a:schemeClr val="tx1"/>
                </a:solidFill>
              </a:rPr>
              <a:t>Why cars go unsold, and how we fix it</a:t>
            </a:r>
            <a:endParaRPr lang="en-US" sz="3600" dirty="0"/>
          </a:p>
        </p:txBody>
      </p:sp>
      <p:sp>
        <p:nvSpPr>
          <p:cNvPr id="3" name="Problem label"/>
          <p:cNvSpPr txBox="1"/>
          <p:nvPr/>
        </p:nvSpPr>
        <p:spPr>
          <a:xfrm>
            <a:off x="548640" y="1298448"/>
            <a:ext cx="5410048" cy="292608"/>
          </a:xfrm>
          <a:prstGeom prst="rect">
            <a:avLst/>
          </a:prstGeom>
          <a:noFill/>
          <a:ln/>
        </p:spPr>
        <p:txBody>
          <a:bodyPr wrap="square" lIns="0" tIns="0" rIns="0" bIns="0" rtlCol="0" anchor="ctr"/>
          <a:lstStyle/>
          <a:p>
            <a:pPr indent="0" marL="0">
              <a:buNone/>
            </a:pPr>
            <a:r>
              <a:rPr lang="en-US" sz="1200" b="1" spc="300" kern="0" dirty="0">
                <a:solidFill>
                  <a:schemeClr val="tx2"/>
                </a:solidFill>
              </a:rPr>
              <a:t>THE PROBLEM</a:t>
            </a:r>
            <a:endParaRPr lang="en-US" sz="1200" dirty="0"/>
          </a:p>
        </p:txBody>
      </p:sp>
      <p:sp>
        <p:nvSpPr>
          <p:cNvPr id="4" name="Solution label"/>
          <p:cNvSpPr txBox="1"/>
          <p:nvPr/>
        </p:nvSpPr>
        <p:spPr>
          <a:xfrm>
            <a:off x="6233008" y="1298448"/>
            <a:ext cx="5410048" cy="292608"/>
          </a:xfrm>
          <a:prstGeom prst="rect">
            <a:avLst/>
          </a:prstGeom>
          <a:noFill/>
          <a:ln/>
        </p:spPr>
        <p:txBody>
          <a:bodyPr wrap="square" lIns="0" tIns="0" rIns="0" bIns="0" rtlCol="0" anchor="ctr"/>
          <a:lstStyle/>
          <a:p>
            <a:pPr indent="0" marL="0">
              <a:buNone/>
            </a:pPr>
            <a:r>
              <a:rPr lang="en-US" sz="1200" b="1" spc="300" kern="0" dirty="0">
                <a:solidFill>
                  <a:schemeClr val="accent1"/>
                </a:solidFill>
              </a:rPr>
              <a:t>OUR SOLUTION</a:t>
            </a:r>
            <a:endParaRPr lang="en-US" sz="1200" dirty="0"/>
          </a:p>
        </p:txBody>
      </p:sp>
      <p:sp>
        <p:nvSpPr>
          <p:cNvPr id="5" name="Situation card"/>
          <p:cNvSpPr/>
          <p:nvPr/>
        </p:nvSpPr>
        <p:spPr>
          <a:xfrm>
            <a:off x="548640" y="1691640"/>
            <a:ext cx="2567864" cy="4526280"/>
          </a:xfrm>
          <a:prstGeom prst="roundRect">
            <a:avLst>
              <a:gd name="adj" fmla="val 4273"/>
            </a:avLst>
          </a:prstGeom>
          <a:solidFill>
            <a:schemeClr val="bg2"/>
          </a:solidFill>
          <a:ln w="12700">
            <a:solidFill>
              <a:schemeClr val="bg2"/>
            </a:solidFill>
            <a:prstDash val="solid"/>
          </a:ln>
          <a:effectLst>
            <a:outerShdw sx="100000" sy="100000" kx="0" ky="0" algn="bl" rotWithShape="0" blurRad="101600" dist="25400" dir="5400000">
              <a:srgbClr val="0F1C2E">
                <a:alpha val="12000"/>
              </a:srgbClr>
            </a:outerShdw>
          </a:effectLst>
        </p:spPr>
      </p:sp>
      <p:sp>
        <p:nvSpPr>
          <p:cNvPr id="6" name="Situation letter circle"/>
          <p:cNvSpPr/>
          <p:nvPr/>
        </p:nvSpPr>
        <p:spPr>
          <a:xfrm>
            <a:off x="777240" y="1920240"/>
            <a:ext cx="566928" cy="566928"/>
          </a:xfrm>
          <a:prstGeom prst="ellipse">
            <a:avLst/>
          </a:prstGeom>
          <a:solidFill>
            <a:schemeClr val="tx1"/>
          </a:solidFill>
          <a:ln w="12700">
            <a:solidFill>
              <a:schemeClr val="tx1"/>
            </a:solidFill>
            <a:prstDash val="solid"/>
          </a:ln>
        </p:spPr>
      </p:sp>
      <p:sp>
        <p:nvSpPr>
          <p:cNvPr id="7" name="Situation letter"/>
          <p:cNvSpPr txBox="1"/>
          <p:nvPr/>
        </p:nvSpPr>
        <p:spPr>
          <a:xfrm>
            <a:off x="777240" y="1920240"/>
            <a:ext cx="566928" cy="566928"/>
          </a:xfrm>
          <a:prstGeom prst="rect">
            <a:avLst/>
          </a:prstGeom>
          <a:noFill/>
          <a:ln/>
        </p:spPr>
        <p:txBody>
          <a:bodyPr wrap="square" lIns="0" tIns="0" rIns="0" bIns="0" rtlCol="0" anchor="ctr"/>
          <a:lstStyle/>
          <a:p>
            <a:pPr algn="ctr" indent="0" marL="0">
              <a:buNone/>
            </a:pPr>
            <a:r>
              <a:rPr lang="en-US" sz="2200" b="1" dirty="0">
                <a:solidFill>
                  <a:schemeClr val="bg1"/>
                </a:solidFill>
              </a:rPr>
              <a:t>S</a:t>
            </a:r>
            <a:endParaRPr lang="en-US" sz="2200" dirty="0"/>
          </a:p>
        </p:txBody>
      </p:sp>
      <p:sp>
        <p:nvSpPr>
          <p:cNvPr id="8" name="Situation heading"/>
          <p:cNvSpPr txBox="1"/>
          <p:nvPr/>
        </p:nvSpPr>
        <p:spPr>
          <a:xfrm>
            <a:off x="1463040" y="1920240"/>
            <a:ext cx="1562024" cy="566928"/>
          </a:xfrm>
          <a:prstGeom prst="rect">
            <a:avLst/>
          </a:prstGeom>
          <a:noFill/>
          <a:ln/>
        </p:spPr>
        <p:txBody>
          <a:bodyPr wrap="square" lIns="0" tIns="0" rIns="0" bIns="0" rtlCol="0" anchor="ctr"/>
          <a:lstStyle/>
          <a:p>
            <a:pPr indent="0" marL="0">
              <a:buNone/>
            </a:pPr>
            <a:r>
              <a:rPr lang="en-US" sz="2000" b="1" dirty="0">
                <a:solidFill>
                  <a:schemeClr val="tx1"/>
                </a:solidFill>
              </a:rPr>
              <a:t>Situation</a:t>
            </a:r>
            <a:endParaRPr lang="en-US" sz="2000" dirty="0"/>
          </a:p>
        </p:txBody>
      </p:sp>
      <p:sp>
        <p:nvSpPr>
          <p:cNvPr id="9" name="Task card"/>
          <p:cNvSpPr/>
          <p:nvPr/>
        </p:nvSpPr>
        <p:spPr>
          <a:xfrm>
            <a:off x="3390824" y="1691640"/>
            <a:ext cx="2567864" cy="4526280"/>
          </a:xfrm>
          <a:prstGeom prst="roundRect">
            <a:avLst>
              <a:gd name="adj" fmla="val 4273"/>
            </a:avLst>
          </a:prstGeom>
          <a:solidFill>
            <a:schemeClr val="bg2"/>
          </a:solidFill>
          <a:ln w="12700">
            <a:solidFill>
              <a:schemeClr val="bg2"/>
            </a:solidFill>
            <a:prstDash val="solid"/>
          </a:ln>
          <a:effectLst>
            <a:outerShdw sx="100000" sy="100000" kx="0" ky="0" algn="bl" rotWithShape="0" blurRad="101600" dist="25400" dir="5400000">
              <a:srgbClr val="0F1C2E">
                <a:alpha val="12000"/>
              </a:srgbClr>
            </a:outerShdw>
          </a:effectLst>
        </p:spPr>
      </p:sp>
      <p:sp>
        <p:nvSpPr>
          <p:cNvPr id="10" name="Task letter circle"/>
          <p:cNvSpPr/>
          <p:nvPr/>
        </p:nvSpPr>
        <p:spPr>
          <a:xfrm>
            <a:off x="3619424" y="1920240"/>
            <a:ext cx="566928" cy="566928"/>
          </a:xfrm>
          <a:prstGeom prst="ellipse">
            <a:avLst/>
          </a:prstGeom>
          <a:solidFill>
            <a:schemeClr val="tx1"/>
          </a:solidFill>
          <a:ln w="12700">
            <a:solidFill>
              <a:schemeClr val="tx1"/>
            </a:solidFill>
            <a:prstDash val="solid"/>
          </a:ln>
        </p:spPr>
      </p:sp>
      <p:sp>
        <p:nvSpPr>
          <p:cNvPr id="11" name="Task letter"/>
          <p:cNvSpPr txBox="1"/>
          <p:nvPr/>
        </p:nvSpPr>
        <p:spPr>
          <a:xfrm>
            <a:off x="3619424" y="1920240"/>
            <a:ext cx="566928" cy="566928"/>
          </a:xfrm>
          <a:prstGeom prst="rect">
            <a:avLst/>
          </a:prstGeom>
          <a:noFill/>
          <a:ln/>
        </p:spPr>
        <p:txBody>
          <a:bodyPr wrap="square" lIns="0" tIns="0" rIns="0" bIns="0" rtlCol="0" anchor="ctr"/>
          <a:lstStyle/>
          <a:p>
            <a:pPr algn="ctr" indent="0" marL="0">
              <a:buNone/>
            </a:pPr>
            <a:r>
              <a:rPr lang="en-US" sz="2200" b="1" dirty="0">
                <a:solidFill>
                  <a:schemeClr val="bg1"/>
                </a:solidFill>
              </a:rPr>
              <a:t>T</a:t>
            </a:r>
            <a:endParaRPr lang="en-US" sz="2200" dirty="0"/>
          </a:p>
        </p:txBody>
      </p:sp>
      <p:sp>
        <p:nvSpPr>
          <p:cNvPr id="12" name="Task heading"/>
          <p:cNvSpPr txBox="1"/>
          <p:nvPr/>
        </p:nvSpPr>
        <p:spPr>
          <a:xfrm>
            <a:off x="4305224" y="1920240"/>
            <a:ext cx="1562024" cy="566928"/>
          </a:xfrm>
          <a:prstGeom prst="rect">
            <a:avLst/>
          </a:prstGeom>
          <a:noFill/>
          <a:ln/>
        </p:spPr>
        <p:txBody>
          <a:bodyPr wrap="square" lIns="0" tIns="0" rIns="0" bIns="0" rtlCol="0" anchor="ctr"/>
          <a:lstStyle/>
          <a:p>
            <a:pPr indent="0" marL="0">
              <a:buNone/>
            </a:pPr>
            <a:r>
              <a:rPr lang="en-US" sz="2000" b="1" dirty="0">
                <a:solidFill>
                  <a:schemeClr val="tx1"/>
                </a:solidFill>
              </a:rPr>
              <a:t>Task</a:t>
            </a:r>
            <a:endParaRPr lang="en-US" sz="2000" dirty="0"/>
          </a:p>
        </p:txBody>
      </p:sp>
      <p:sp>
        <p:nvSpPr>
          <p:cNvPr id="13" name="Action card"/>
          <p:cNvSpPr/>
          <p:nvPr/>
        </p:nvSpPr>
        <p:spPr>
          <a:xfrm>
            <a:off x="6233008" y="1691640"/>
            <a:ext cx="2567864" cy="4526280"/>
          </a:xfrm>
          <a:prstGeom prst="roundRect">
            <a:avLst>
              <a:gd name="adj" fmla="val 4273"/>
            </a:avLst>
          </a:prstGeom>
          <a:solidFill>
            <a:schemeClr val="bg2"/>
          </a:solidFill>
          <a:ln w="12700">
            <a:solidFill>
              <a:schemeClr val="bg2"/>
            </a:solidFill>
            <a:prstDash val="solid"/>
          </a:ln>
          <a:effectLst>
            <a:outerShdw sx="100000" sy="100000" kx="0" ky="0" algn="bl" rotWithShape="0" blurRad="101600" dist="25400" dir="5400000">
              <a:srgbClr val="0F1C2E">
                <a:alpha val="12000"/>
              </a:srgbClr>
            </a:outerShdw>
          </a:effectLst>
        </p:spPr>
      </p:sp>
      <p:sp>
        <p:nvSpPr>
          <p:cNvPr id="14" name="Action letter circle"/>
          <p:cNvSpPr/>
          <p:nvPr/>
        </p:nvSpPr>
        <p:spPr>
          <a:xfrm>
            <a:off x="6461608" y="1920240"/>
            <a:ext cx="566928" cy="566928"/>
          </a:xfrm>
          <a:prstGeom prst="ellipse">
            <a:avLst/>
          </a:prstGeom>
          <a:solidFill>
            <a:schemeClr val="accent1"/>
          </a:solidFill>
          <a:ln w="12700">
            <a:solidFill>
              <a:schemeClr val="accent1"/>
            </a:solidFill>
            <a:prstDash val="solid"/>
          </a:ln>
        </p:spPr>
      </p:sp>
      <p:sp>
        <p:nvSpPr>
          <p:cNvPr id="15" name="Action letter"/>
          <p:cNvSpPr txBox="1"/>
          <p:nvPr/>
        </p:nvSpPr>
        <p:spPr>
          <a:xfrm>
            <a:off x="6461608" y="1920240"/>
            <a:ext cx="566928" cy="566928"/>
          </a:xfrm>
          <a:prstGeom prst="rect">
            <a:avLst/>
          </a:prstGeom>
          <a:noFill/>
          <a:ln/>
        </p:spPr>
        <p:txBody>
          <a:bodyPr wrap="square" lIns="0" tIns="0" rIns="0" bIns="0" rtlCol="0" anchor="ctr"/>
          <a:lstStyle/>
          <a:p>
            <a:pPr algn="ctr" indent="0" marL="0">
              <a:buNone/>
            </a:pPr>
            <a:r>
              <a:rPr lang="en-US" sz="2200" b="1" dirty="0">
                <a:solidFill>
                  <a:schemeClr val="bg1"/>
                </a:solidFill>
              </a:rPr>
              <a:t>A</a:t>
            </a:r>
            <a:endParaRPr lang="en-US" sz="2200" dirty="0"/>
          </a:p>
        </p:txBody>
      </p:sp>
      <p:sp>
        <p:nvSpPr>
          <p:cNvPr id="16" name="Action heading"/>
          <p:cNvSpPr txBox="1"/>
          <p:nvPr/>
        </p:nvSpPr>
        <p:spPr>
          <a:xfrm>
            <a:off x="7147408" y="1920240"/>
            <a:ext cx="1562024" cy="566928"/>
          </a:xfrm>
          <a:prstGeom prst="rect">
            <a:avLst/>
          </a:prstGeom>
          <a:noFill/>
          <a:ln/>
        </p:spPr>
        <p:txBody>
          <a:bodyPr wrap="square" lIns="0" tIns="0" rIns="0" bIns="0" rtlCol="0" anchor="ctr"/>
          <a:lstStyle/>
          <a:p>
            <a:pPr indent="0" marL="0">
              <a:buNone/>
            </a:pPr>
            <a:r>
              <a:rPr lang="en-US" sz="2000" b="1" dirty="0">
                <a:solidFill>
                  <a:schemeClr val="tx1"/>
                </a:solidFill>
              </a:rPr>
              <a:t>Action</a:t>
            </a:r>
            <a:endParaRPr lang="en-US" sz="2000" dirty="0"/>
          </a:p>
        </p:txBody>
      </p:sp>
      <p:sp>
        <p:nvSpPr>
          <p:cNvPr id="17" name="Result card"/>
          <p:cNvSpPr/>
          <p:nvPr/>
        </p:nvSpPr>
        <p:spPr>
          <a:xfrm>
            <a:off x="9075191" y="1691640"/>
            <a:ext cx="2567864" cy="4526280"/>
          </a:xfrm>
          <a:prstGeom prst="roundRect">
            <a:avLst>
              <a:gd name="adj" fmla="val 4273"/>
            </a:avLst>
          </a:prstGeom>
          <a:solidFill>
            <a:schemeClr val="bg2"/>
          </a:solidFill>
          <a:ln w="12700">
            <a:solidFill>
              <a:schemeClr val="bg2"/>
            </a:solidFill>
            <a:prstDash val="solid"/>
          </a:ln>
          <a:effectLst>
            <a:outerShdw sx="100000" sy="100000" kx="0" ky="0" algn="bl" rotWithShape="0" blurRad="101600" dist="25400" dir="5400000">
              <a:srgbClr val="0F1C2E">
                <a:alpha val="12000"/>
              </a:srgbClr>
            </a:outerShdw>
          </a:effectLst>
        </p:spPr>
      </p:sp>
      <p:sp>
        <p:nvSpPr>
          <p:cNvPr id="18" name="Result letter circle"/>
          <p:cNvSpPr/>
          <p:nvPr/>
        </p:nvSpPr>
        <p:spPr>
          <a:xfrm>
            <a:off x="9303791" y="1920240"/>
            <a:ext cx="566928" cy="566928"/>
          </a:xfrm>
          <a:prstGeom prst="ellipse">
            <a:avLst/>
          </a:prstGeom>
          <a:solidFill>
            <a:schemeClr val="accent1"/>
          </a:solidFill>
          <a:ln w="12700">
            <a:solidFill>
              <a:schemeClr val="accent1"/>
            </a:solidFill>
            <a:prstDash val="solid"/>
          </a:ln>
        </p:spPr>
      </p:sp>
      <p:sp>
        <p:nvSpPr>
          <p:cNvPr id="19" name="Result letter"/>
          <p:cNvSpPr txBox="1"/>
          <p:nvPr/>
        </p:nvSpPr>
        <p:spPr>
          <a:xfrm>
            <a:off x="9303791" y="1920240"/>
            <a:ext cx="566928" cy="566928"/>
          </a:xfrm>
          <a:prstGeom prst="rect">
            <a:avLst/>
          </a:prstGeom>
          <a:noFill/>
          <a:ln/>
        </p:spPr>
        <p:txBody>
          <a:bodyPr wrap="square" lIns="0" tIns="0" rIns="0" bIns="0" rtlCol="0" anchor="ctr"/>
          <a:lstStyle/>
          <a:p>
            <a:pPr algn="ctr" indent="0" marL="0">
              <a:buNone/>
            </a:pPr>
            <a:r>
              <a:rPr lang="en-US" sz="2200" b="1" dirty="0">
                <a:solidFill>
                  <a:schemeClr val="bg1"/>
                </a:solidFill>
              </a:rPr>
              <a:t>R</a:t>
            </a:r>
            <a:endParaRPr lang="en-US" sz="2200" dirty="0"/>
          </a:p>
        </p:txBody>
      </p:sp>
      <p:sp>
        <p:nvSpPr>
          <p:cNvPr id="20" name="Result heading"/>
          <p:cNvSpPr txBox="1"/>
          <p:nvPr/>
        </p:nvSpPr>
        <p:spPr>
          <a:xfrm>
            <a:off x="9989591" y="1920240"/>
            <a:ext cx="1562024" cy="566928"/>
          </a:xfrm>
          <a:prstGeom prst="rect">
            <a:avLst/>
          </a:prstGeom>
          <a:noFill/>
          <a:ln/>
        </p:spPr>
        <p:txBody>
          <a:bodyPr wrap="square" lIns="0" tIns="0" rIns="0" bIns="0" rtlCol="0" anchor="ctr"/>
          <a:lstStyle/>
          <a:p>
            <a:pPr indent="0" marL="0">
              <a:buNone/>
            </a:pPr>
            <a:r>
              <a:rPr lang="en-US" sz="2000" b="1" dirty="0">
                <a:solidFill>
                  <a:schemeClr val="tx1"/>
                </a:solidFill>
              </a:rPr>
              <a:t>Result</a:t>
            </a:r>
            <a:endParaRPr lang="en-US" sz="2000" dirty="0"/>
          </a:p>
        </p:txBody>
      </p:sp>
      <p:sp>
        <p:nvSpPr>
          <p:cNvPr id="21" name="Situation text"/>
          <p:cNvSpPr txBox="1"/>
          <p:nvPr/>
        </p:nvSpPr>
        <p:spPr>
          <a:xfrm>
            <a:off x="777240" y="2697480"/>
            <a:ext cx="2110664" cy="333756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ACV runs 20-minute dealer auctions. Copart sells damaged cars worldwide. They are becoming one company.</a:t>
            </a:r>
            <a:endParaRPr lang="en-US" sz="1400" dirty="0"/>
          </a:p>
          <a:p>
            <a:pPr marL="177800" indent="-177800">
              <a:spcAft>
                <a:spcPts val="800"/>
              </a:spcAft>
              <a:buSzPct val="100000"/>
              <a:buChar char="•"/>
            </a:pPr>
            <a:r>
              <a:rPr lang="en-US" sz="1400" dirty="0">
                <a:solidFill>
                  <a:schemeClr val="tx1"/>
                </a:solidFill>
              </a:rPr>
              <a:t>Cars still go unsold: the right buyer misses the auction, prices don't meet, hidden damage scares buyers.</a:t>
            </a:r>
            <a:endParaRPr lang="en-US" sz="1400" dirty="0"/>
          </a:p>
          <a:p>
            <a:pPr marL="177800" indent="-177800">
              <a:spcAft>
                <a:spcPts val="800"/>
              </a:spcAft>
              <a:buSzPct val="100000"/>
              <a:buChar char="•"/>
            </a:pPr>
            <a:r>
              <a:rPr lang="en-US" sz="1400" dirty="0">
                <a:solidFill>
                  <a:schemeClr val="tx1"/>
                </a:solidFill>
              </a:rPr>
              <a:t>ACV only earns when a car sells.</a:t>
            </a:r>
            <a:endParaRPr lang="en-US" sz="1400" dirty="0"/>
          </a:p>
        </p:txBody>
      </p:sp>
      <p:sp>
        <p:nvSpPr>
          <p:cNvPr id="22" name="Task text"/>
          <p:cNvSpPr txBox="1"/>
          <p:nvPr/>
        </p:nvSpPr>
        <p:spPr>
          <a:xfrm>
            <a:off x="3619424" y="2697480"/>
            <a:ext cx="2110664" cy="333756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Turn more listings into sales across both companies.</a:t>
            </a:r>
            <a:endParaRPr lang="en-US" sz="1400" dirty="0"/>
          </a:p>
          <a:p>
            <a:pPr marL="177800" indent="-177800">
              <a:spcAft>
                <a:spcPts val="800"/>
              </a:spcAft>
              <a:buSzPct val="100000"/>
              <a:buChar char="•"/>
            </a:pPr>
            <a:r>
              <a:rPr lang="en-US" sz="1400" dirty="0">
                <a:solidFill>
                  <a:schemeClr val="tx1"/>
                </a:solidFill>
              </a:rPr>
              <a:t>Catch hidden damage before anyone buys.</a:t>
            </a:r>
            <a:endParaRPr lang="en-US" sz="1400" dirty="0"/>
          </a:p>
          <a:p>
            <a:pPr marL="177800" indent="-177800">
              <a:spcAft>
                <a:spcPts val="800"/>
              </a:spcAft>
              <a:buSzPct val="100000"/>
              <a:buChar char="•"/>
            </a:pPr>
            <a:r>
              <a:rPr lang="en-US" sz="1400" dirty="0">
                <a:solidFill>
                  <a:schemeClr val="tx1"/>
                </a:solidFill>
              </a:rPr>
              <a:t>Move cars at the lowest cost, so the combined company earns at every stage of a car's life.</a:t>
            </a:r>
            <a:endParaRPr lang="en-US" sz="1400" dirty="0"/>
          </a:p>
        </p:txBody>
      </p:sp>
      <p:sp>
        <p:nvSpPr>
          <p:cNvPr id="23" name="Action intro"/>
          <p:cNvSpPr txBox="1"/>
          <p:nvPr/>
        </p:nvSpPr>
        <p:spPr>
          <a:xfrm>
            <a:off x="6461608" y="2697480"/>
            <a:ext cx="2110664" cy="502920"/>
          </a:xfrm>
          <a:prstGeom prst="rect">
            <a:avLst/>
          </a:prstGeom>
          <a:noFill/>
          <a:ln/>
        </p:spPr>
        <p:txBody>
          <a:bodyPr wrap="square" lIns="0" tIns="0" rIns="0" bIns="0" rtlCol="0" anchor="t"/>
          <a:lstStyle/>
          <a:p>
            <a:pPr indent="0" marL="0">
              <a:buNone/>
            </a:pPr>
            <a:r>
              <a:rPr lang="en-US" sz="1400" i="1" dirty="0">
                <a:solidFill>
                  <a:schemeClr val="tx2"/>
                </a:solidFill>
              </a:rPr>
              <a:t>4 AI agents do the work. People approve.</a:t>
            </a:r>
            <a:endParaRPr lang="en-US" sz="1400" dirty="0"/>
          </a:p>
        </p:txBody>
      </p:sp>
      <p:pic>
        <p:nvPicPr>
          <p:cNvPr id="24" name="Action Buy icon" descr="preencoded.png">    </p:cNvPr>
          <p:cNvPicPr>
            <a:picLocks noChangeAspect="1"/>
          </p:cNvPicPr>
          <p:nvPr/>
        </p:nvPicPr>
        <p:blipFill>
          <a:blip r:embed="rId1"/>
          <a:stretch>
            <a:fillRect/>
          </a:stretch>
        </p:blipFill>
        <p:spPr>
          <a:xfrm>
            <a:off x="6461608" y="3355848"/>
            <a:ext cx="274320" cy="274320"/>
          </a:xfrm>
          <a:prstGeom prst="rect">
            <a:avLst/>
          </a:prstGeom>
        </p:spPr>
      </p:pic>
      <p:sp>
        <p:nvSpPr>
          <p:cNvPr id="25" name="Action Buy text"/>
          <p:cNvSpPr txBox="1"/>
          <p:nvPr/>
        </p:nvSpPr>
        <p:spPr>
          <a:xfrm>
            <a:off x="6845656" y="3319272"/>
            <a:ext cx="1726616" cy="566928"/>
          </a:xfrm>
          <a:prstGeom prst="rect">
            <a:avLst/>
          </a:prstGeom>
          <a:noFill/>
          <a:ln/>
        </p:spPr>
        <p:txBody>
          <a:bodyPr wrap="square" lIns="0" tIns="0" rIns="0" bIns="0" rtlCol="0" anchor="t"/>
          <a:lstStyle/>
          <a:p>
            <a:pPr indent="0" marL="0">
              <a:buNone/>
            </a:pPr>
            <a:r>
              <a:rPr lang="en-US" sz="1400" b="1" dirty="0">
                <a:solidFill>
                  <a:schemeClr val="tx1"/>
                </a:solidFill>
              </a:rPr>
              <a:t>Buy: </a:t>
            </a:r>
            <a:pPr indent="0" marL="0">
              <a:buNone/>
            </a:pPr>
            <a:r>
              <a:rPr lang="en-US" sz="1400" dirty="0">
                <a:solidFill>
                  <a:schemeClr val="tx1"/>
                </a:solidFill>
              </a:rPr>
              <a:t>finds cars, checks history</a:t>
            </a:r>
            <a:endParaRPr lang="en-US" sz="1400" dirty="0"/>
          </a:p>
        </p:txBody>
      </p:sp>
      <p:pic>
        <p:nvPicPr>
          <p:cNvPr id="26" name="Action Sell icon" descr="preencoded.png">    </p:cNvPr>
          <p:cNvPicPr>
            <a:picLocks noChangeAspect="1"/>
          </p:cNvPicPr>
          <p:nvPr/>
        </p:nvPicPr>
        <p:blipFill>
          <a:blip r:embed="rId2"/>
          <a:stretch>
            <a:fillRect/>
          </a:stretch>
        </p:blipFill>
        <p:spPr>
          <a:xfrm>
            <a:off x="6461608" y="4123944"/>
            <a:ext cx="274320" cy="274320"/>
          </a:xfrm>
          <a:prstGeom prst="rect">
            <a:avLst/>
          </a:prstGeom>
        </p:spPr>
      </p:pic>
      <p:sp>
        <p:nvSpPr>
          <p:cNvPr id="27" name="Action Sell text"/>
          <p:cNvSpPr txBox="1"/>
          <p:nvPr/>
        </p:nvSpPr>
        <p:spPr>
          <a:xfrm>
            <a:off x="6845656" y="4087368"/>
            <a:ext cx="1726616" cy="566928"/>
          </a:xfrm>
          <a:prstGeom prst="rect">
            <a:avLst/>
          </a:prstGeom>
          <a:noFill/>
          <a:ln/>
        </p:spPr>
        <p:txBody>
          <a:bodyPr wrap="square" lIns="0" tIns="0" rIns="0" bIns="0" rtlCol="0" anchor="t"/>
          <a:lstStyle/>
          <a:p>
            <a:pPr indent="0" marL="0">
              <a:buNone/>
            </a:pPr>
            <a:r>
              <a:rPr lang="en-US" sz="1400" b="1" dirty="0">
                <a:solidFill>
                  <a:schemeClr val="tx1"/>
                </a:solidFill>
              </a:rPr>
              <a:t>Sell: </a:t>
            </a:r>
            <a:pPr indent="0" marL="0">
              <a:buNone/>
            </a:pPr>
            <a:r>
              <a:rPr lang="en-US" sz="1400" dirty="0">
                <a:solidFill>
                  <a:schemeClr val="tx1"/>
                </a:solidFill>
              </a:rPr>
              <a:t>photo report, waiting buyers</a:t>
            </a:r>
            <a:endParaRPr lang="en-US" sz="1400" dirty="0"/>
          </a:p>
        </p:txBody>
      </p:sp>
      <p:pic>
        <p:nvPicPr>
          <p:cNvPr id="28" name="Action Negotiate icon" descr="preencoded.png">    </p:cNvPr>
          <p:cNvPicPr>
            <a:picLocks noChangeAspect="1"/>
          </p:cNvPicPr>
          <p:nvPr/>
        </p:nvPicPr>
        <p:blipFill>
          <a:blip r:embed="rId3"/>
          <a:stretch>
            <a:fillRect/>
          </a:stretch>
        </p:blipFill>
        <p:spPr>
          <a:xfrm>
            <a:off x="6461608" y="4892040"/>
            <a:ext cx="274320" cy="274320"/>
          </a:xfrm>
          <a:prstGeom prst="rect">
            <a:avLst/>
          </a:prstGeom>
        </p:spPr>
      </p:pic>
      <p:sp>
        <p:nvSpPr>
          <p:cNvPr id="29" name="Action Negotiate text"/>
          <p:cNvSpPr txBox="1"/>
          <p:nvPr/>
        </p:nvSpPr>
        <p:spPr>
          <a:xfrm>
            <a:off x="6845656" y="4855464"/>
            <a:ext cx="1726616" cy="566928"/>
          </a:xfrm>
          <a:prstGeom prst="rect">
            <a:avLst/>
          </a:prstGeom>
          <a:noFill/>
          <a:ln/>
        </p:spPr>
        <p:txBody>
          <a:bodyPr wrap="square" lIns="0" tIns="0" rIns="0" bIns="0" rtlCol="0" anchor="t"/>
          <a:lstStyle/>
          <a:p>
            <a:pPr indent="0" marL="0">
              <a:buNone/>
            </a:pPr>
            <a:r>
              <a:rPr lang="en-US" sz="1400" b="1" dirty="0">
                <a:solidFill>
                  <a:schemeClr val="tx1"/>
                </a:solidFill>
              </a:rPr>
              <a:t>Negotiate: </a:t>
            </a:r>
            <a:pPr indent="0" marL="0">
              <a:buNone/>
            </a:pPr>
            <a:r>
              <a:rPr lang="en-US" sz="1400" dirty="0">
                <a:solidFill>
                  <a:schemeClr val="tx1"/>
                </a:solidFill>
              </a:rPr>
              <a:t>closes the gap, pays, ships</a:t>
            </a:r>
            <a:endParaRPr lang="en-US" sz="1400" dirty="0"/>
          </a:p>
        </p:txBody>
      </p:sp>
      <p:pic>
        <p:nvPicPr>
          <p:cNvPr id="30" name="Action Fleet icon" descr="preencoded.png">    </p:cNvPr>
          <p:cNvPicPr>
            <a:picLocks noChangeAspect="1"/>
          </p:cNvPicPr>
          <p:nvPr/>
        </p:nvPicPr>
        <p:blipFill>
          <a:blip r:embed="rId4"/>
          <a:stretch>
            <a:fillRect/>
          </a:stretch>
        </p:blipFill>
        <p:spPr>
          <a:xfrm>
            <a:off x="6461608" y="5660136"/>
            <a:ext cx="274320" cy="274320"/>
          </a:xfrm>
          <a:prstGeom prst="rect">
            <a:avLst/>
          </a:prstGeom>
        </p:spPr>
      </p:pic>
      <p:sp>
        <p:nvSpPr>
          <p:cNvPr id="31" name="Action Fleet text"/>
          <p:cNvSpPr txBox="1"/>
          <p:nvPr/>
        </p:nvSpPr>
        <p:spPr>
          <a:xfrm>
            <a:off x="6845656" y="5623560"/>
            <a:ext cx="1726616" cy="566928"/>
          </a:xfrm>
          <a:prstGeom prst="rect">
            <a:avLst/>
          </a:prstGeom>
          <a:noFill/>
          <a:ln/>
        </p:spPr>
        <p:txBody>
          <a:bodyPr wrap="square" lIns="0" tIns="0" rIns="0" bIns="0" rtlCol="0" anchor="t"/>
          <a:lstStyle/>
          <a:p>
            <a:pPr indent="0" marL="0">
              <a:buNone/>
            </a:pPr>
            <a:r>
              <a:rPr lang="en-US" sz="1400" b="1" dirty="0">
                <a:solidFill>
                  <a:schemeClr val="tx1"/>
                </a:solidFill>
              </a:rPr>
              <a:t>Fleet: </a:t>
            </a:r>
            <a:pPr indent="0" marL="0">
              <a:buNone/>
            </a:pPr>
            <a:r>
              <a:rPr lang="en-US" sz="1400" dirty="0">
                <a:solidFill>
                  <a:schemeClr val="tx1"/>
                </a:solidFill>
              </a:rPr>
              <a:t>full trucks, prices hold</a:t>
            </a:r>
            <a:endParaRPr lang="en-US" sz="1400" dirty="0"/>
          </a:p>
        </p:txBody>
      </p:sp>
      <p:sp>
        <p:nvSpPr>
          <p:cNvPr id="32" name="Result intro"/>
          <p:cNvSpPr txBox="1"/>
          <p:nvPr/>
        </p:nvSpPr>
        <p:spPr>
          <a:xfrm>
            <a:off x="9303791" y="2697480"/>
            <a:ext cx="2110664" cy="502920"/>
          </a:xfrm>
          <a:prstGeom prst="rect">
            <a:avLst/>
          </a:prstGeom>
          <a:noFill/>
          <a:ln/>
        </p:spPr>
        <p:txBody>
          <a:bodyPr wrap="square" lIns="0" tIns="0" rIns="0" bIns="0" rtlCol="0" anchor="t"/>
          <a:lstStyle/>
          <a:p>
            <a:pPr indent="0" marL="0">
              <a:buNone/>
            </a:pPr>
            <a:r>
              <a:rPr lang="en-US" sz="1400" i="1" dirty="0">
                <a:solidFill>
                  <a:schemeClr val="tx2"/>
                </a:solidFill>
              </a:rPr>
              <a:t>What changes:</a:t>
            </a:r>
            <a:endParaRPr lang="en-US" sz="1400" dirty="0"/>
          </a:p>
        </p:txBody>
      </p:sp>
      <p:pic>
        <p:nvPicPr>
          <p:cNvPr id="33" name="Result 1 icon" descr="preencoded.png">    </p:cNvPr>
          <p:cNvPicPr>
            <a:picLocks noChangeAspect="1"/>
          </p:cNvPicPr>
          <p:nvPr/>
        </p:nvPicPr>
        <p:blipFill>
          <a:blip r:embed="rId5"/>
          <a:stretch>
            <a:fillRect/>
          </a:stretch>
        </p:blipFill>
        <p:spPr>
          <a:xfrm>
            <a:off x="9303791" y="3355848"/>
            <a:ext cx="274320" cy="274320"/>
          </a:xfrm>
          <a:prstGeom prst="rect">
            <a:avLst/>
          </a:prstGeom>
        </p:spPr>
      </p:pic>
      <p:sp>
        <p:nvSpPr>
          <p:cNvPr id="34" name="Result 1 text"/>
          <p:cNvSpPr txBox="1"/>
          <p:nvPr/>
        </p:nvSpPr>
        <p:spPr>
          <a:xfrm>
            <a:off x="9687839" y="3319272"/>
            <a:ext cx="1726616" cy="566928"/>
          </a:xfrm>
          <a:prstGeom prst="rect">
            <a:avLst/>
          </a:prstGeom>
          <a:noFill/>
          <a:ln/>
        </p:spPr>
        <p:txBody>
          <a:bodyPr wrap="square" lIns="0" tIns="0" rIns="0" bIns="0" rtlCol="0" anchor="t"/>
          <a:lstStyle/>
          <a:p>
            <a:pPr indent="0" marL="0">
              <a:buNone/>
            </a:pPr>
            <a:r>
              <a:rPr lang="en-US" sz="1400" dirty="0">
                <a:solidFill>
                  <a:schemeClr val="tx1"/>
                </a:solidFill>
              </a:rPr>
              <a:t>Hidden damage caught before anyone buys</a:t>
            </a:r>
            <a:endParaRPr lang="en-US" sz="1400" dirty="0"/>
          </a:p>
        </p:txBody>
      </p:sp>
      <p:pic>
        <p:nvPicPr>
          <p:cNvPr id="35" name="Result 2 icon" descr="preencoded.png">    </p:cNvPr>
          <p:cNvPicPr>
            <a:picLocks noChangeAspect="1"/>
          </p:cNvPicPr>
          <p:nvPr/>
        </p:nvPicPr>
        <p:blipFill>
          <a:blip r:embed="rId6"/>
          <a:stretch>
            <a:fillRect/>
          </a:stretch>
        </p:blipFill>
        <p:spPr>
          <a:xfrm>
            <a:off x="9303791" y="4123944"/>
            <a:ext cx="274320" cy="274320"/>
          </a:xfrm>
          <a:prstGeom prst="rect">
            <a:avLst/>
          </a:prstGeom>
        </p:spPr>
      </p:pic>
      <p:sp>
        <p:nvSpPr>
          <p:cNvPr id="36" name="Result 2 text"/>
          <p:cNvSpPr txBox="1"/>
          <p:nvPr/>
        </p:nvSpPr>
        <p:spPr>
          <a:xfrm>
            <a:off x="9687839" y="4087368"/>
            <a:ext cx="1726616" cy="566928"/>
          </a:xfrm>
          <a:prstGeom prst="rect">
            <a:avLst/>
          </a:prstGeom>
          <a:noFill/>
          <a:ln/>
        </p:spPr>
        <p:txBody>
          <a:bodyPr wrap="square" lIns="0" tIns="0" rIns="0" bIns="0" rtlCol="0" anchor="t"/>
          <a:lstStyle/>
          <a:p>
            <a:pPr indent="0" marL="0">
              <a:buNone/>
            </a:pPr>
            <a:r>
              <a:rPr lang="en-US" sz="1400" dirty="0">
                <a:solidFill>
                  <a:schemeClr val="tx1"/>
                </a:solidFill>
              </a:rPr>
              <a:t>Buyers lined up before the auction starts</a:t>
            </a:r>
            <a:endParaRPr lang="en-US" sz="1400" dirty="0"/>
          </a:p>
        </p:txBody>
      </p:sp>
      <p:pic>
        <p:nvPicPr>
          <p:cNvPr id="37" name="Result 3 icon" descr="preencoded.png">    </p:cNvPr>
          <p:cNvPicPr>
            <a:picLocks noChangeAspect="1"/>
          </p:cNvPicPr>
          <p:nvPr/>
        </p:nvPicPr>
        <p:blipFill>
          <a:blip r:embed="rId7"/>
          <a:stretch>
            <a:fillRect/>
          </a:stretch>
        </p:blipFill>
        <p:spPr>
          <a:xfrm>
            <a:off x="9303791" y="4892040"/>
            <a:ext cx="274320" cy="274320"/>
          </a:xfrm>
          <a:prstGeom prst="rect">
            <a:avLst/>
          </a:prstGeom>
        </p:spPr>
      </p:pic>
      <p:sp>
        <p:nvSpPr>
          <p:cNvPr id="38" name="Result 3 text"/>
          <p:cNvSpPr txBox="1"/>
          <p:nvPr/>
        </p:nvSpPr>
        <p:spPr>
          <a:xfrm>
            <a:off x="9687839" y="4855464"/>
            <a:ext cx="1726616" cy="566928"/>
          </a:xfrm>
          <a:prstGeom prst="rect">
            <a:avLst/>
          </a:prstGeom>
          <a:noFill/>
          <a:ln/>
        </p:spPr>
        <p:txBody>
          <a:bodyPr wrap="square" lIns="0" tIns="0" rIns="0" bIns="0" rtlCol="0" anchor="t"/>
          <a:lstStyle/>
          <a:p>
            <a:pPr indent="0" marL="0">
              <a:buNone/>
            </a:pPr>
            <a:r>
              <a:rPr lang="en-US" sz="1400" dirty="0">
                <a:solidFill>
                  <a:schemeClr val="tx1"/>
                </a:solidFill>
              </a:rPr>
              <a:t>Price gaps closed instead of dead deals</a:t>
            </a:r>
            <a:endParaRPr lang="en-US" sz="1400" dirty="0"/>
          </a:p>
        </p:txBody>
      </p:sp>
      <p:pic>
        <p:nvPicPr>
          <p:cNvPr id="39" name="Result 4 icon" descr="preencoded.png">    </p:cNvPr>
          <p:cNvPicPr>
            <a:picLocks noChangeAspect="1"/>
          </p:cNvPicPr>
          <p:nvPr/>
        </p:nvPicPr>
        <p:blipFill>
          <a:blip r:embed="rId8"/>
          <a:stretch>
            <a:fillRect/>
          </a:stretch>
        </p:blipFill>
        <p:spPr>
          <a:xfrm>
            <a:off x="9303791" y="5660136"/>
            <a:ext cx="274320" cy="274320"/>
          </a:xfrm>
          <a:prstGeom prst="rect">
            <a:avLst/>
          </a:prstGeom>
        </p:spPr>
      </p:pic>
      <p:sp>
        <p:nvSpPr>
          <p:cNvPr id="40" name="Result 4 text"/>
          <p:cNvSpPr txBox="1"/>
          <p:nvPr/>
        </p:nvSpPr>
        <p:spPr>
          <a:xfrm>
            <a:off x="9687839" y="5623560"/>
            <a:ext cx="1726616" cy="566928"/>
          </a:xfrm>
          <a:prstGeom prst="rect">
            <a:avLst/>
          </a:prstGeom>
          <a:noFill/>
          <a:ln/>
        </p:spPr>
        <p:txBody>
          <a:bodyPr wrap="square" lIns="0" tIns="0" rIns="0" bIns="0" rtlCol="0" anchor="t"/>
          <a:lstStyle/>
          <a:p>
            <a:pPr indent="0" marL="0">
              <a:buNone/>
            </a:pPr>
            <a:r>
              <a:rPr lang="en-US" sz="1400" dirty="0">
                <a:solidFill>
                  <a:schemeClr val="tx1"/>
                </a:solidFill>
              </a:rPr>
              <a:t>Fleets sold without flooding a market</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lIns="0" tIns="0" rIns="0" bIns="0" rtlCol="0" anchor="ctr"/>
          <a:lstStyle/>
          <a:p>
            <a:pPr algn="l" indent="0" marL="0">
              <a:buNone/>
            </a:pPr>
            <a:r>
              <a:rPr lang="en-US" sz="3600" b="1" dirty="0">
                <a:solidFill>
                  <a:schemeClr val="bg1"/>
                </a:solidFill>
              </a:rPr>
              <a:t>GoingOnce in action</a:t>
            </a:r>
            <a:endParaRPr lang="en-US" sz="3600" dirty="0"/>
          </a:p>
        </p:txBody>
      </p:sp>
      <p:sp>
        <p:nvSpPr>
          <p:cNvPr id="3" name="Video area"/>
          <p:cNvSpPr/>
          <p:nvPr/>
        </p:nvSpPr>
        <p:spPr>
          <a:xfrm>
            <a:off x="548640" y="1371600"/>
            <a:ext cx="8138160" cy="4577715"/>
          </a:xfrm>
          <a:prstGeom prst="roundRect">
            <a:avLst>
              <a:gd name="adj" fmla="val 1998"/>
            </a:avLst>
          </a:prstGeom>
          <a:solidFill>
            <a:schemeClr val="accent6"/>
          </a:solidFill>
          <a:ln w="12700">
            <a:solidFill>
              <a:schemeClr val="accent6"/>
            </a:solidFill>
            <a:prstDash val="solid"/>
          </a:ln>
        </p:spPr>
      </p:sp>
      <p:sp>
        <p:nvSpPr>
          <p:cNvPr id="4" name="Demo Buy circle"/>
          <p:cNvSpPr/>
          <p:nvPr/>
        </p:nvSpPr>
        <p:spPr>
          <a:xfrm>
            <a:off x="9052560" y="1417320"/>
            <a:ext cx="566928" cy="566928"/>
          </a:xfrm>
          <a:prstGeom prst="ellipse">
            <a:avLst/>
          </a:prstGeom>
          <a:solidFill>
            <a:schemeClr val="accent1"/>
          </a:solidFill>
          <a:ln w="12700">
            <a:solidFill>
              <a:schemeClr val="accent1"/>
            </a:solidFill>
            <a:prstDash val="solid"/>
          </a:ln>
        </p:spPr>
      </p:sp>
      <p:pic>
        <p:nvPicPr>
          <p:cNvPr id="5" name="Demo Buy icon" descr="preencoded.png">    </p:cNvPr>
          <p:cNvPicPr>
            <a:picLocks noChangeAspect="1"/>
          </p:cNvPicPr>
          <p:nvPr/>
        </p:nvPicPr>
        <p:blipFill>
          <a:blip r:embed="rId1"/>
          <a:stretch>
            <a:fillRect/>
          </a:stretch>
        </p:blipFill>
        <p:spPr>
          <a:xfrm>
            <a:off x="9194292" y="1559052"/>
            <a:ext cx="283464" cy="283464"/>
          </a:xfrm>
          <a:prstGeom prst="rect">
            <a:avLst/>
          </a:prstGeom>
        </p:spPr>
      </p:pic>
      <p:sp>
        <p:nvSpPr>
          <p:cNvPr id="6" name="Demo Buy name"/>
          <p:cNvSpPr txBox="1"/>
          <p:nvPr/>
        </p:nvSpPr>
        <p:spPr>
          <a:xfrm>
            <a:off x="9784080" y="1399032"/>
            <a:ext cx="1858975" cy="310896"/>
          </a:xfrm>
          <a:prstGeom prst="rect">
            <a:avLst/>
          </a:prstGeom>
          <a:noFill/>
          <a:ln/>
        </p:spPr>
        <p:txBody>
          <a:bodyPr wrap="square" lIns="0" tIns="0" rIns="0" bIns="0" rtlCol="0" anchor="ctr"/>
          <a:lstStyle/>
          <a:p>
            <a:pPr indent="0" marL="0">
              <a:buNone/>
            </a:pPr>
            <a:r>
              <a:rPr lang="en-US" sz="1600" b="1" dirty="0">
                <a:solidFill>
                  <a:schemeClr val="bg1"/>
                </a:solidFill>
              </a:rPr>
              <a:t>Buy</a:t>
            </a:r>
            <a:endParaRPr lang="en-US" sz="1600" dirty="0"/>
          </a:p>
        </p:txBody>
      </p:sp>
      <p:sp>
        <p:nvSpPr>
          <p:cNvPr id="7" name="Demo Buy text"/>
          <p:cNvSpPr txBox="1"/>
          <p:nvPr/>
        </p:nvSpPr>
        <p:spPr>
          <a:xfrm>
            <a:off x="9784080" y="1709928"/>
            <a:ext cx="1858975" cy="713232"/>
          </a:xfrm>
          <a:prstGeom prst="rect">
            <a:avLst/>
          </a:prstGeom>
          <a:noFill/>
          <a:ln/>
        </p:spPr>
        <p:txBody>
          <a:bodyPr wrap="square" lIns="0" tIns="0" rIns="0" bIns="0" rtlCol="0" anchor="t"/>
          <a:lstStyle/>
          <a:p>
            <a:pPr indent="0" marL="0">
              <a:buNone/>
            </a:pPr>
            <a:r>
              <a:rPr lang="en-US" sz="1400" dirty="0">
                <a:solidFill>
                  <a:schemeClr val="bg2"/>
                </a:solidFill>
              </a:rPr>
              <a:t>Finds cars, catches hidden damage, asks before bidding</a:t>
            </a:r>
            <a:endParaRPr lang="en-US" sz="1400" dirty="0"/>
          </a:p>
        </p:txBody>
      </p:sp>
      <p:sp>
        <p:nvSpPr>
          <p:cNvPr id="8" name="Demo Sell circle"/>
          <p:cNvSpPr/>
          <p:nvPr/>
        </p:nvSpPr>
        <p:spPr>
          <a:xfrm>
            <a:off x="9052560" y="2551176"/>
            <a:ext cx="566928" cy="566928"/>
          </a:xfrm>
          <a:prstGeom prst="ellipse">
            <a:avLst/>
          </a:prstGeom>
          <a:solidFill>
            <a:schemeClr val="accent1"/>
          </a:solidFill>
          <a:ln w="12700">
            <a:solidFill>
              <a:schemeClr val="accent1"/>
            </a:solidFill>
            <a:prstDash val="solid"/>
          </a:ln>
        </p:spPr>
      </p:sp>
      <p:pic>
        <p:nvPicPr>
          <p:cNvPr id="9" name="Demo Sell icon" descr="preencoded.png">    </p:cNvPr>
          <p:cNvPicPr>
            <a:picLocks noChangeAspect="1"/>
          </p:cNvPicPr>
          <p:nvPr/>
        </p:nvPicPr>
        <p:blipFill>
          <a:blip r:embed="rId2"/>
          <a:stretch>
            <a:fillRect/>
          </a:stretch>
        </p:blipFill>
        <p:spPr>
          <a:xfrm>
            <a:off x="9194292" y="2692908"/>
            <a:ext cx="283464" cy="283464"/>
          </a:xfrm>
          <a:prstGeom prst="rect">
            <a:avLst/>
          </a:prstGeom>
        </p:spPr>
      </p:pic>
      <p:sp>
        <p:nvSpPr>
          <p:cNvPr id="10" name="Demo Sell name"/>
          <p:cNvSpPr txBox="1"/>
          <p:nvPr/>
        </p:nvSpPr>
        <p:spPr>
          <a:xfrm>
            <a:off x="9784080" y="2532888"/>
            <a:ext cx="1858975" cy="310896"/>
          </a:xfrm>
          <a:prstGeom prst="rect">
            <a:avLst/>
          </a:prstGeom>
          <a:noFill/>
          <a:ln/>
        </p:spPr>
        <p:txBody>
          <a:bodyPr wrap="square" lIns="0" tIns="0" rIns="0" bIns="0" rtlCol="0" anchor="ctr"/>
          <a:lstStyle/>
          <a:p>
            <a:pPr indent="0" marL="0">
              <a:buNone/>
            </a:pPr>
            <a:r>
              <a:rPr lang="en-US" sz="1600" b="1" dirty="0">
                <a:solidFill>
                  <a:schemeClr val="bg1"/>
                </a:solidFill>
              </a:rPr>
              <a:t>Sell</a:t>
            </a:r>
            <a:endParaRPr lang="en-US" sz="1600" dirty="0"/>
          </a:p>
        </p:txBody>
      </p:sp>
      <p:sp>
        <p:nvSpPr>
          <p:cNvPr id="11" name="Demo Sell text"/>
          <p:cNvSpPr txBox="1"/>
          <p:nvPr/>
        </p:nvSpPr>
        <p:spPr>
          <a:xfrm>
            <a:off x="9784080" y="2843784"/>
            <a:ext cx="1858975" cy="713232"/>
          </a:xfrm>
          <a:prstGeom prst="rect">
            <a:avLst/>
          </a:prstGeom>
          <a:noFill/>
          <a:ln/>
        </p:spPr>
        <p:txBody>
          <a:bodyPr wrap="square" lIns="0" tIns="0" rIns="0" bIns="0" rtlCol="0" anchor="t"/>
          <a:lstStyle/>
          <a:p>
            <a:pPr indent="0" marL="0">
              <a:buNone/>
            </a:pPr>
            <a:r>
              <a:rPr lang="en-US" sz="1400" dirty="0">
                <a:solidFill>
                  <a:schemeClr val="bg2"/>
                </a:solidFill>
              </a:rPr>
              <a:t>Photo report, best way to sell, buyers already waiting</a:t>
            </a:r>
            <a:endParaRPr lang="en-US" sz="1400" dirty="0"/>
          </a:p>
        </p:txBody>
      </p:sp>
      <p:sp>
        <p:nvSpPr>
          <p:cNvPr id="12" name="Demo Negotiate circle"/>
          <p:cNvSpPr/>
          <p:nvPr/>
        </p:nvSpPr>
        <p:spPr>
          <a:xfrm>
            <a:off x="9052560" y="3685032"/>
            <a:ext cx="566928" cy="566928"/>
          </a:xfrm>
          <a:prstGeom prst="ellipse">
            <a:avLst/>
          </a:prstGeom>
          <a:solidFill>
            <a:schemeClr val="accent1"/>
          </a:solidFill>
          <a:ln w="12700">
            <a:solidFill>
              <a:schemeClr val="accent1"/>
            </a:solidFill>
            <a:prstDash val="solid"/>
          </a:ln>
        </p:spPr>
      </p:sp>
      <p:pic>
        <p:nvPicPr>
          <p:cNvPr id="13" name="Demo Negotiate icon" descr="preencoded.png">    </p:cNvPr>
          <p:cNvPicPr>
            <a:picLocks noChangeAspect="1"/>
          </p:cNvPicPr>
          <p:nvPr/>
        </p:nvPicPr>
        <p:blipFill>
          <a:blip r:embed="rId3"/>
          <a:stretch>
            <a:fillRect/>
          </a:stretch>
        </p:blipFill>
        <p:spPr>
          <a:xfrm>
            <a:off x="9194292" y="3826764"/>
            <a:ext cx="283464" cy="283464"/>
          </a:xfrm>
          <a:prstGeom prst="rect">
            <a:avLst/>
          </a:prstGeom>
        </p:spPr>
      </p:pic>
      <p:sp>
        <p:nvSpPr>
          <p:cNvPr id="14" name="Demo Negotiate name"/>
          <p:cNvSpPr txBox="1"/>
          <p:nvPr/>
        </p:nvSpPr>
        <p:spPr>
          <a:xfrm>
            <a:off x="9784080" y="3666744"/>
            <a:ext cx="1858975" cy="310896"/>
          </a:xfrm>
          <a:prstGeom prst="rect">
            <a:avLst/>
          </a:prstGeom>
          <a:noFill/>
          <a:ln/>
        </p:spPr>
        <p:txBody>
          <a:bodyPr wrap="square" lIns="0" tIns="0" rIns="0" bIns="0" rtlCol="0" anchor="ctr"/>
          <a:lstStyle/>
          <a:p>
            <a:pPr indent="0" marL="0">
              <a:buNone/>
            </a:pPr>
            <a:r>
              <a:rPr lang="en-US" sz="1600" b="1" dirty="0">
                <a:solidFill>
                  <a:schemeClr val="bg1"/>
                </a:solidFill>
              </a:rPr>
              <a:t>Negotiate</a:t>
            </a:r>
            <a:endParaRPr lang="en-US" sz="1600" dirty="0"/>
          </a:p>
        </p:txBody>
      </p:sp>
      <p:sp>
        <p:nvSpPr>
          <p:cNvPr id="15" name="Demo Negotiate text"/>
          <p:cNvSpPr txBox="1"/>
          <p:nvPr/>
        </p:nvSpPr>
        <p:spPr>
          <a:xfrm>
            <a:off x="9784080" y="3977640"/>
            <a:ext cx="1858975" cy="713232"/>
          </a:xfrm>
          <a:prstGeom prst="rect">
            <a:avLst/>
          </a:prstGeom>
          <a:noFill/>
          <a:ln/>
        </p:spPr>
        <p:txBody>
          <a:bodyPr wrap="square" lIns="0" tIns="0" rIns="0" bIns="0" rtlCol="0" anchor="t"/>
          <a:lstStyle/>
          <a:p>
            <a:pPr indent="0" marL="0">
              <a:buNone/>
            </a:pPr>
            <a:r>
              <a:rPr lang="en-US" sz="1400" dirty="0">
                <a:solidFill>
                  <a:schemeClr val="bg2"/>
                </a:solidFill>
              </a:rPr>
              <a:t>Closes the price gap, then pays, insures and ships</a:t>
            </a:r>
            <a:endParaRPr lang="en-US" sz="1400" dirty="0"/>
          </a:p>
        </p:txBody>
      </p:sp>
      <p:sp>
        <p:nvSpPr>
          <p:cNvPr id="16" name="Demo Fleet circle"/>
          <p:cNvSpPr/>
          <p:nvPr/>
        </p:nvSpPr>
        <p:spPr>
          <a:xfrm>
            <a:off x="9052560" y="4818888"/>
            <a:ext cx="566928" cy="566928"/>
          </a:xfrm>
          <a:prstGeom prst="ellipse">
            <a:avLst/>
          </a:prstGeom>
          <a:solidFill>
            <a:schemeClr val="accent1"/>
          </a:solidFill>
          <a:ln w="12700">
            <a:solidFill>
              <a:schemeClr val="accent1"/>
            </a:solidFill>
            <a:prstDash val="solid"/>
          </a:ln>
        </p:spPr>
      </p:sp>
      <p:pic>
        <p:nvPicPr>
          <p:cNvPr id="17" name="Demo Fleet icon" descr="preencoded.png">    </p:cNvPr>
          <p:cNvPicPr>
            <a:picLocks noChangeAspect="1"/>
          </p:cNvPicPr>
          <p:nvPr/>
        </p:nvPicPr>
        <p:blipFill>
          <a:blip r:embed="rId4"/>
          <a:stretch>
            <a:fillRect/>
          </a:stretch>
        </p:blipFill>
        <p:spPr>
          <a:xfrm>
            <a:off x="9194292" y="4960620"/>
            <a:ext cx="283464" cy="283464"/>
          </a:xfrm>
          <a:prstGeom prst="rect">
            <a:avLst/>
          </a:prstGeom>
        </p:spPr>
      </p:pic>
      <p:sp>
        <p:nvSpPr>
          <p:cNvPr id="18" name="Demo Fleet name"/>
          <p:cNvSpPr txBox="1"/>
          <p:nvPr/>
        </p:nvSpPr>
        <p:spPr>
          <a:xfrm>
            <a:off x="9784080" y="4800600"/>
            <a:ext cx="1858975" cy="310896"/>
          </a:xfrm>
          <a:prstGeom prst="rect">
            <a:avLst/>
          </a:prstGeom>
          <a:noFill/>
          <a:ln/>
        </p:spPr>
        <p:txBody>
          <a:bodyPr wrap="square" lIns="0" tIns="0" rIns="0" bIns="0" rtlCol="0" anchor="ctr"/>
          <a:lstStyle/>
          <a:p>
            <a:pPr indent="0" marL="0">
              <a:buNone/>
            </a:pPr>
            <a:r>
              <a:rPr lang="en-US" sz="1600" b="1" dirty="0">
                <a:solidFill>
                  <a:schemeClr val="bg1"/>
                </a:solidFill>
              </a:rPr>
              <a:t>Fleet</a:t>
            </a:r>
            <a:endParaRPr lang="en-US" sz="1600" dirty="0"/>
          </a:p>
        </p:txBody>
      </p:sp>
      <p:sp>
        <p:nvSpPr>
          <p:cNvPr id="19" name="Demo Fleet text"/>
          <p:cNvSpPr txBox="1"/>
          <p:nvPr/>
        </p:nvSpPr>
        <p:spPr>
          <a:xfrm>
            <a:off x="9784080" y="5111496"/>
            <a:ext cx="1858975" cy="713232"/>
          </a:xfrm>
          <a:prstGeom prst="rect">
            <a:avLst/>
          </a:prstGeom>
          <a:noFill/>
          <a:ln/>
        </p:spPr>
        <p:txBody>
          <a:bodyPr wrap="square" lIns="0" tIns="0" rIns="0" bIns="0" rtlCol="0" anchor="t"/>
          <a:lstStyle/>
          <a:p>
            <a:pPr indent="0" marL="0">
              <a:buNone/>
            </a:pPr>
            <a:r>
              <a:rPr lang="en-US" sz="1400" dirty="0">
                <a:solidFill>
                  <a:schemeClr val="bg2"/>
                </a:solidFill>
              </a:rPr>
              <a:t>Moves 120 cars in full trucks so prices hold</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lIns="0" tIns="0" rIns="0" bIns="0" rtlCol="0" anchor="ctr"/>
          <a:lstStyle/>
          <a:p>
            <a:pPr algn="l" indent="0" marL="0">
              <a:buNone/>
            </a:pPr>
            <a:r>
              <a:rPr lang="en-US" sz="3600" b="1" dirty="0">
                <a:solidFill>
                  <a:schemeClr val="tx1"/>
                </a:solidFill>
              </a:rPr>
              <a:t>How GoingOnce supports AI for Good</a:t>
            </a:r>
            <a:endParaRPr lang="en-US" sz="3600" dirty="0"/>
          </a:p>
        </p:txBody>
      </p:sp>
      <p:sp>
        <p:nvSpPr>
          <p:cNvPr id="3" name="Protects families from fraud card"/>
          <p:cNvSpPr/>
          <p:nvPr/>
        </p:nvSpPr>
        <p:spPr>
          <a:xfrm>
            <a:off x="548640" y="1600200"/>
            <a:ext cx="5364328" cy="1965960"/>
          </a:xfrm>
          <a:prstGeom prst="roundRect">
            <a:avLst>
              <a:gd name="adj" fmla="val 5581"/>
            </a:avLst>
          </a:prstGeom>
          <a:solidFill>
            <a:schemeClr val="bg2"/>
          </a:solidFill>
          <a:ln w="12700">
            <a:solidFill>
              <a:schemeClr val="bg2"/>
            </a:solidFill>
            <a:prstDash val="solid"/>
          </a:ln>
          <a:effectLst>
            <a:outerShdw sx="100000" sy="100000" kx="0" ky="0" algn="bl" rotWithShape="0" blurRad="101600" dist="25400" dir="5400000">
              <a:srgbClr val="0F1C2E">
                <a:alpha val="12000"/>
              </a:srgbClr>
            </a:outerShdw>
          </a:effectLst>
        </p:spPr>
      </p:sp>
      <p:sp>
        <p:nvSpPr>
          <p:cNvPr id="4" name="Protects families from fraud circle"/>
          <p:cNvSpPr/>
          <p:nvPr/>
        </p:nvSpPr>
        <p:spPr>
          <a:xfrm>
            <a:off x="868680" y="1965960"/>
            <a:ext cx="777240" cy="777240"/>
          </a:xfrm>
          <a:prstGeom prst="ellipse">
            <a:avLst/>
          </a:prstGeom>
          <a:solidFill>
            <a:schemeClr val="accent3"/>
          </a:solidFill>
          <a:ln w="12700">
            <a:solidFill>
              <a:schemeClr val="accent3"/>
            </a:solidFill>
            <a:prstDash val="solid"/>
          </a:ln>
        </p:spPr>
      </p:sp>
      <p:pic>
        <p:nvPicPr>
          <p:cNvPr id="5" name="Protects families from fraud icon" descr="preencoded.png">    </p:cNvPr>
          <p:cNvPicPr>
            <a:picLocks noChangeAspect="1"/>
          </p:cNvPicPr>
          <p:nvPr/>
        </p:nvPicPr>
        <p:blipFill>
          <a:blip r:embed="rId1"/>
          <a:stretch>
            <a:fillRect/>
          </a:stretch>
        </p:blipFill>
        <p:spPr>
          <a:xfrm>
            <a:off x="1062990" y="2160270"/>
            <a:ext cx="388620" cy="388620"/>
          </a:xfrm>
          <a:prstGeom prst="rect">
            <a:avLst/>
          </a:prstGeom>
        </p:spPr>
      </p:pic>
      <p:sp>
        <p:nvSpPr>
          <p:cNvPr id="6" name="Protects families from fraud heading"/>
          <p:cNvSpPr txBox="1"/>
          <p:nvPr/>
        </p:nvSpPr>
        <p:spPr>
          <a:xfrm>
            <a:off x="1920240" y="1947672"/>
            <a:ext cx="3718408" cy="457200"/>
          </a:xfrm>
          <a:prstGeom prst="rect">
            <a:avLst/>
          </a:prstGeom>
          <a:noFill/>
          <a:ln/>
        </p:spPr>
        <p:txBody>
          <a:bodyPr wrap="square" lIns="0" tIns="0" rIns="0" bIns="0" rtlCol="0" anchor="ctr"/>
          <a:lstStyle/>
          <a:p>
            <a:pPr indent="0" marL="0">
              <a:buNone/>
            </a:pPr>
            <a:r>
              <a:rPr lang="en-US" sz="2000" b="1" dirty="0">
                <a:solidFill>
                  <a:schemeClr val="tx1"/>
                </a:solidFill>
              </a:rPr>
              <a:t>Protects families from fraud</a:t>
            </a:r>
            <a:endParaRPr lang="en-US" sz="2000" dirty="0"/>
          </a:p>
        </p:txBody>
      </p:sp>
      <p:sp>
        <p:nvSpPr>
          <p:cNvPr id="7" name="Protects families from fraud text"/>
          <p:cNvSpPr txBox="1"/>
          <p:nvPr/>
        </p:nvSpPr>
        <p:spPr>
          <a:xfrm>
            <a:off x="1920240" y="2468880"/>
            <a:ext cx="3718408" cy="1097280"/>
          </a:xfrm>
          <a:prstGeom prst="rect">
            <a:avLst/>
          </a:prstGeom>
          <a:noFill/>
          <a:ln/>
        </p:spPr>
        <p:txBody>
          <a:bodyPr wrap="square" lIns="0" tIns="0" rIns="0" bIns="0" rtlCol="0" anchor="t"/>
          <a:lstStyle/>
          <a:p>
            <a:pPr indent="0" marL="0">
              <a:buNone/>
            </a:pPr>
            <a:r>
              <a:rPr lang="en-US" sz="1500" dirty="0">
                <a:solidFill>
                  <a:schemeClr val="tx1"/>
                </a:solidFill>
              </a:rPr>
              <a:t>Catches flood-damaged cars, washed titles and rolled-back odometers before anyone buys them.</a:t>
            </a:r>
            <a:endParaRPr lang="en-US" sz="1500" dirty="0"/>
          </a:p>
        </p:txBody>
      </p:sp>
      <p:sp>
        <p:nvSpPr>
          <p:cNvPr id="8" name="Fair deals for both sides card"/>
          <p:cNvSpPr/>
          <p:nvPr/>
        </p:nvSpPr>
        <p:spPr>
          <a:xfrm>
            <a:off x="6278728" y="1600200"/>
            <a:ext cx="5364328" cy="1965960"/>
          </a:xfrm>
          <a:prstGeom prst="roundRect">
            <a:avLst>
              <a:gd name="adj" fmla="val 5581"/>
            </a:avLst>
          </a:prstGeom>
          <a:solidFill>
            <a:schemeClr val="bg2"/>
          </a:solidFill>
          <a:ln w="12700">
            <a:solidFill>
              <a:schemeClr val="bg2"/>
            </a:solidFill>
            <a:prstDash val="solid"/>
          </a:ln>
          <a:effectLst>
            <a:outerShdw sx="100000" sy="100000" kx="0" ky="0" algn="bl" rotWithShape="0" blurRad="101600" dist="25400" dir="5400000">
              <a:srgbClr val="0F1C2E">
                <a:alpha val="12000"/>
              </a:srgbClr>
            </a:outerShdw>
          </a:effectLst>
        </p:spPr>
      </p:sp>
      <p:sp>
        <p:nvSpPr>
          <p:cNvPr id="9" name="Fair deals for both sides circle"/>
          <p:cNvSpPr/>
          <p:nvPr/>
        </p:nvSpPr>
        <p:spPr>
          <a:xfrm>
            <a:off x="6598768" y="1965960"/>
            <a:ext cx="777240" cy="777240"/>
          </a:xfrm>
          <a:prstGeom prst="ellipse">
            <a:avLst/>
          </a:prstGeom>
          <a:solidFill>
            <a:schemeClr val="accent3"/>
          </a:solidFill>
          <a:ln w="12700">
            <a:solidFill>
              <a:schemeClr val="accent3"/>
            </a:solidFill>
            <a:prstDash val="solid"/>
          </a:ln>
        </p:spPr>
      </p:sp>
      <p:pic>
        <p:nvPicPr>
          <p:cNvPr id="10" name="Fair deals for both sides icon" descr="preencoded.png">    </p:cNvPr>
          <p:cNvPicPr>
            <a:picLocks noChangeAspect="1"/>
          </p:cNvPicPr>
          <p:nvPr/>
        </p:nvPicPr>
        <p:blipFill>
          <a:blip r:embed="rId2"/>
          <a:stretch>
            <a:fillRect/>
          </a:stretch>
        </p:blipFill>
        <p:spPr>
          <a:xfrm>
            <a:off x="6793078" y="2160270"/>
            <a:ext cx="388620" cy="388620"/>
          </a:xfrm>
          <a:prstGeom prst="rect">
            <a:avLst/>
          </a:prstGeom>
        </p:spPr>
      </p:pic>
      <p:sp>
        <p:nvSpPr>
          <p:cNvPr id="11" name="Fair deals for both sides heading"/>
          <p:cNvSpPr txBox="1"/>
          <p:nvPr/>
        </p:nvSpPr>
        <p:spPr>
          <a:xfrm>
            <a:off x="7650328" y="1947672"/>
            <a:ext cx="3718408" cy="457200"/>
          </a:xfrm>
          <a:prstGeom prst="rect">
            <a:avLst/>
          </a:prstGeom>
          <a:noFill/>
          <a:ln/>
        </p:spPr>
        <p:txBody>
          <a:bodyPr wrap="square" lIns="0" tIns="0" rIns="0" bIns="0" rtlCol="0" anchor="ctr"/>
          <a:lstStyle/>
          <a:p>
            <a:pPr indent="0" marL="0">
              <a:buNone/>
            </a:pPr>
            <a:r>
              <a:rPr lang="en-US" sz="2000" b="1" dirty="0">
                <a:solidFill>
                  <a:schemeClr val="tx1"/>
                </a:solidFill>
              </a:rPr>
              <a:t>Fair deals for both sides</a:t>
            </a:r>
            <a:endParaRPr lang="en-US" sz="2000" dirty="0"/>
          </a:p>
        </p:txBody>
      </p:sp>
      <p:sp>
        <p:nvSpPr>
          <p:cNvPr id="12" name="Fair deals for both sides text"/>
          <p:cNvSpPr txBox="1"/>
          <p:nvPr/>
        </p:nvSpPr>
        <p:spPr>
          <a:xfrm>
            <a:off x="7650328" y="2468880"/>
            <a:ext cx="3718408" cy="1097280"/>
          </a:xfrm>
          <a:prstGeom prst="rect">
            <a:avLst/>
          </a:prstGeom>
          <a:noFill/>
          <a:ln/>
        </p:spPr>
        <p:txBody>
          <a:bodyPr wrap="square" lIns="0" tIns="0" rIns="0" bIns="0" rtlCol="0" anchor="t"/>
          <a:lstStyle/>
          <a:p>
            <a:pPr indent="0" marL="0">
              <a:buNone/>
            </a:pPr>
            <a:r>
              <a:rPr lang="en-US" sz="1500" dirty="0">
                <a:solidFill>
                  <a:schemeClr val="tx1"/>
                </a:solidFill>
              </a:rPr>
              <a:t>Each side keeps its own limit. The AI shows real market prices and never pushes anyone past their limit.</a:t>
            </a:r>
            <a:endParaRPr lang="en-US" sz="1500" dirty="0"/>
          </a:p>
        </p:txBody>
      </p:sp>
      <p:sp>
        <p:nvSpPr>
          <p:cNvPr id="13" name="Less waste, fewer emissions card"/>
          <p:cNvSpPr/>
          <p:nvPr/>
        </p:nvSpPr>
        <p:spPr>
          <a:xfrm>
            <a:off x="548640" y="3931920"/>
            <a:ext cx="5364328" cy="1965960"/>
          </a:xfrm>
          <a:prstGeom prst="roundRect">
            <a:avLst>
              <a:gd name="adj" fmla="val 5581"/>
            </a:avLst>
          </a:prstGeom>
          <a:solidFill>
            <a:schemeClr val="bg2"/>
          </a:solidFill>
          <a:ln w="12700">
            <a:solidFill>
              <a:schemeClr val="bg2"/>
            </a:solidFill>
            <a:prstDash val="solid"/>
          </a:ln>
          <a:effectLst>
            <a:outerShdw sx="100000" sy="100000" kx="0" ky="0" algn="bl" rotWithShape="0" blurRad="101600" dist="25400" dir="5400000">
              <a:srgbClr val="0F1C2E">
                <a:alpha val="12000"/>
              </a:srgbClr>
            </a:outerShdw>
          </a:effectLst>
        </p:spPr>
      </p:sp>
      <p:sp>
        <p:nvSpPr>
          <p:cNvPr id="14" name="Less waste, fewer emissions circle"/>
          <p:cNvSpPr/>
          <p:nvPr/>
        </p:nvSpPr>
        <p:spPr>
          <a:xfrm>
            <a:off x="868680" y="4297680"/>
            <a:ext cx="777240" cy="777240"/>
          </a:xfrm>
          <a:prstGeom prst="ellipse">
            <a:avLst/>
          </a:prstGeom>
          <a:solidFill>
            <a:schemeClr val="accent3"/>
          </a:solidFill>
          <a:ln w="12700">
            <a:solidFill>
              <a:schemeClr val="accent3"/>
            </a:solidFill>
            <a:prstDash val="solid"/>
          </a:ln>
        </p:spPr>
      </p:sp>
      <p:pic>
        <p:nvPicPr>
          <p:cNvPr id="15" name="Less waste, fewer emissions icon" descr="preencoded.png">    </p:cNvPr>
          <p:cNvPicPr>
            <a:picLocks noChangeAspect="1"/>
          </p:cNvPicPr>
          <p:nvPr/>
        </p:nvPicPr>
        <p:blipFill>
          <a:blip r:embed="rId3"/>
          <a:stretch>
            <a:fillRect/>
          </a:stretch>
        </p:blipFill>
        <p:spPr>
          <a:xfrm>
            <a:off x="1062990" y="4491990"/>
            <a:ext cx="388620" cy="388620"/>
          </a:xfrm>
          <a:prstGeom prst="rect">
            <a:avLst/>
          </a:prstGeom>
        </p:spPr>
      </p:pic>
      <p:sp>
        <p:nvSpPr>
          <p:cNvPr id="16" name="Less waste, fewer emissions heading"/>
          <p:cNvSpPr txBox="1"/>
          <p:nvPr/>
        </p:nvSpPr>
        <p:spPr>
          <a:xfrm>
            <a:off x="1920240" y="4279392"/>
            <a:ext cx="3718408" cy="457200"/>
          </a:xfrm>
          <a:prstGeom prst="rect">
            <a:avLst/>
          </a:prstGeom>
          <a:noFill/>
          <a:ln/>
        </p:spPr>
        <p:txBody>
          <a:bodyPr wrap="square" lIns="0" tIns="0" rIns="0" bIns="0" rtlCol="0" anchor="ctr"/>
          <a:lstStyle/>
          <a:p>
            <a:pPr indent="0" marL="0">
              <a:buNone/>
            </a:pPr>
            <a:r>
              <a:rPr lang="en-US" sz="2000" b="1" dirty="0">
                <a:solidFill>
                  <a:schemeClr val="tx1"/>
                </a:solidFill>
              </a:rPr>
              <a:t>Less waste, fewer emissions</a:t>
            </a:r>
            <a:endParaRPr lang="en-US" sz="2000" dirty="0"/>
          </a:p>
        </p:txBody>
      </p:sp>
      <p:sp>
        <p:nvSpPr>
          <p:cNvPr id="17" name="Less waste, fewer emissions text"/>
          <p:cNvSpPr txBox="1"/>
          <p:nvPr/>
        </p:nvSpPr>
        <p:spPr>
          <a:xfrm>
            <a:off x="1920240" y="4800600"/>
            <a:ext cx="3718408" cy="1097280"/>
          </a:xfrm>
          <a:prstGeom prst="rect">
            <a:avLst/>
          </a:prstGeom>
          <a:noFill/>
          <a:ln/>
        </p:spPr>
        <p:txBody>
          <a:bodyPr wrap="square" lIns="0" tIns="0" rIns="0" bIns="0" rtlCol="0" anchor="t"/>
          <a:lstStyle/>
          <a:p>
            <a:pPr indent="0" marL="0">
              <a:buNone/>
            </a:pPr>
            <a:r>
              <a:rPr lang="en-US" sz="1500" dirty="0">
                <a:solidFill>
                  <a:schemeClr val="tx1"/>
                </a:solidFill>
              </a:rPr>
              <a:t>Full truckloads instead of single trips. Unsold cars reach buyers worldwide instead of the scrapyard.</a:t>
            </a:r>
            <a:endParaRPr lang="en-US" sz="1500" dirty="0"/>
          </a:p>
        </p:txBody>
      </p:sp>
      <p:sp>
        <p:nvSpPr>
          <p:cNvPr id="18" name="People stay in control card"/>
          <p:cNvSpPr/>
          <p:nvPr/>
        </p:nvSpPr>
        <p:spPr>
          <a:xfrm>
            <a:off x="6278728" y="3931920"/>
            <a:ext cx="5364328" cy="1965960"/>
          </a:xfrm>
          <a:prstGeom prst="roundRect">
            <a:avLst>
              <a:gd name="adj" fmla="val 5581"/>
            </a:avLst>
          </a:prstGeom>
          <a:solidFill>
            <a:schemeClr val="bg2"/>
          </a:solidFill>
          <a:ln w="12700">
            <a:solidFill>
              <a:schemeClr val="bg2"/>
            </a:solidFill>
            <a:prstDash val="solid"/>
          </a:ln>
          <a:effectLst>
            <a:outerShdw sx="100000" sy="100000" kx="0" ky="0" algn="bl" rotWithShape="0" blurRad="101600" dist="25400" dir="5400000">
              <a:srgbClr val="0F1C2E">
                <a:alpha val="12000"/>
              </a:srgbClr>
            </a:outerShdw>
          </a:effectLst>
        </p:spPr>
      </p:sp>
      <p:sp>
        <p:nvSpPr>
          <p:cNvPr id="19" name="People stay in control circle"/>
          <p:cNvSpPr/>
          <p:nvPr/>
        </p:nvSpPr>
        <p:spPr>
          <a:xfrm>
            <a:off x="6598768" y="4297680"/>
            <a:ext cx="777240" cy="777240"/>
          </a:xfrm>
          <a:prstGeom prst="ellipse">
            <a:avLst/>
          </a:prstGeom>
          <a:solidFill>
            <a:schemeClr val="accent3"/>
          </a:solidFill>
          <a:ln w="12700">
            <a:solidFill>
              <a:schemeClr val="accent3"/>
            </a:solidFill>
            <a:prstDash val="solid"/>
          </a:ln>
        </p:spPr>
      </p:sp>
      <p:pic>
        <p:nvPicPr>
          <p:cNvPr id="20" name="People stay in control icon" descr="preencoded.png">    </p:cNvPr>
          <p:cNvPicPr>
            <a:picLocks noChangeAspect="1"/>
          </p:cNvPicPr>
          <p:nvPr/>
        </p:nvPicPr>
        <p:blipFill>
          <a:blip r:embed="rId4"/>
          <a:stretch>
            <a:fillRect/>
          </a:stretch>
        </p:blipFill>
        <p:spPr>
          <a:xfrm>
            <a:off x="6793078" y="4491990"/>
            <a:ext cx="388620" cy="388620"/>
          </a:xfrm>
          <a:prstGeom prst="rect">
            <a:avLst/>
          </a:prstGeom>
        </p:spPr>
      </p:pic>
      <p:sp>
        <p:nvSpPr>
          <p:cNvPr id="21" name="People stay in control heading"/>
          <p:cNvSpPr txBox="1"/>
          <p:nvPr/>
        </p:nvSpPr>
        <p:spPr>
          <a:xfrm>
            <a:off x="7650328" y="4279392"/>
            <a:ext cx="3718408" cy="457200"/>
          </a:xfrm>
          <a:prstGeom prst="rect">
            <a:avLst/>
          </a:prstGeom>
          <a:noFill/>
          <a:ln/>
        </p:spPr>
        <p:txBody>
          <a:bodyPr wrap="square" lIns="0" tIns="0" rIns="0" bIns="0" rtlCol="0" anchor="ctr"/>
          <a:lstStyle/>
          <a:p>
            <a:pPr indent="0" marL="0">
              <a:buNone/>
            </a:pPr>
            <a:r>
              <a:rPr lang="en-US" sz="2000" b="1" dirty="0">
                <a:solidFill>
                  <a:schemeClr val="tx1"/>
                </a:solidFill>
              </a:rPr>
              <a:t>People stay in control</a:t>
            </a:r>
            <a:endParaRPr lang="en-US" sz="2000" dirty="0"/>
          </a:p>
        </p:txBody>
      </p:sp>
      <p:sp>
        <p:nvSpPr>
          <p:cNvPr id="22" name="People stay in control text"/>
          <p:cNvSpPr txBox="1"/>
          <p:nvPr/>
        </p:nvSpPr>
        <p:spPr>
          <a:xfrm>
            <a:off x="7650328" y="4800600"/>
            <a:ext cx="3718408" cy="1097280"/>
          </a:xfrm>
          <a:prstGeom prst="rect">
            <a:avLst/>
          </a:prstGeom>
          <a:noFill/>
          <a:ln/>
        </p:spPr>
        <p:txBody>
          <a:bodyPr wrap="square" lIns="0" tIns="0" rIns="0" bIns="0" rtlCol="0" anchor="t"/>
          <a:lstStyle/>
          <a:p>
            <a:pPr indent="0" marL="0">
              <a:buNone/>
            </a:pPr>
            <a:r>
              <a:rPr lang="en-US" sz="1500" dirty="0">
                <a:solidFill>
                  <a:schemeClr val="tx1"/>
                </a:solidFill>
              </a:rPr>
              <a:t>Every step is shown. The AI never spends, lists or signs anything without a person's OK.</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lIns="0" tIns="0" rIns="0" bIns="0" rtlCol="0" anchor="ctr"/>
          <a:lstStyle/>
          <a:p>
            <a:pPr algn="l" indent="0" marL="0">
              <a:buNone/>
            </a:pPr>
            <a:r>
              <a:rPr lang="en-US" sz="3600" b="1" dirty="0">
                <a:solidFill>
                  <a:schemeClr val="bg1"/>
                </a:solidFill>
              </a:rPr>
              <a:t>What's new: four agents, four problems solved</a:t>
            </a:r>
            <a:endParaRPr lang="en-US" sz="3600" dirty="0"/>
          </a:p>
        </p:txBody>
      </p:sp>
      <p:sp>
        <p:nvSpPr>
          <p:cNvPr id="3" name="Buy card"/>
          <p:cNvSpPr/>
          <p:nvPr/>
        </p:nvSpPr>
        <p:spPr>
          <a:xfrm>
            <a:off x="548640" y="1371600"/>
            <a:ext cx="2567864" cy="3611880"/>
          </a:xfrm>
          <a:prstGeom prst="roundRect">
            <a:avLst>
              <a:gd name="adj" fmla="val 4273"/>
            </a:avLst>
          </a:prstGeom>
          <a:solidFill>
            <a:schemeClr val="accent6"/>
          </a:solidFill>
          <a:ln w="12700">
            <a:solidFill>
              <a:schemeClr val="accent6"/>
            </a:solidFill>
            <a:prstDash val="solid"/>
          </a:ln>
        </p:spPr>
      </p:sp>
      <p:sp>
        <p:nvSpPr>
          <p:cNvPr id="4" name="Buy agent circle"/>
          <p:cNvSpPr/>
          <p:nvPr/>
        </p:nvSpPr>
        <p:spPr>
          <a:xfrm>
            <a:off x="777240" y="1600200"/>
            <a:ext cx="566928" cy="566928"/>
          </a:xfrm>
          <a:prstGeom prst="ellipse">
            <a:avLst/>
          </a:prstGeom>
          <a:solidFill>
            <a:schemeClr val="accent1"/>
          </a:solidFill>
          <a:ln w="12700">
            <a:solidFill>
              <a:schemeClr val="accent1"/>
            </a:solidFill>
            <a:prstDash val="solid"/>
          </a:ln>
        </p:spPr>
      </p:sp>
      <p:pic>
        <p:nvPicPr>
          <p:cNvPr id="5" name="Buy agent icon" descr="preencoded.png">    </p:cNvPr>
          <p:cNvPicPr>
            <a:picLocks noChangeAspect="1"/>
          </p:cNvPicPr>
          <p:nvPr/>
        </p:nvPicPr>
        <p:blipFill>
          <a:blip r:embed="rId1"/>
          <a:stretch>
            <a:fillRect/>
          </a:stretch>
        </p:blipFill>
        <p:spPr>
          <a:xfrm>
            <a:off x="918972" y="1741932"/>
            <a:ext cx="283464" cy="283464"/>
          </a:xfrm>
          <a:prstGeom prst="rect">
            <a:avLst/>
          </a:prstGeom>
        </p:spPr>
      </p:pic>
      <p:sp>
        <p:nvSpPr>
          <p:cNvPr id="6" name="Buy heading"/>
          <p:cNvSpPr txBox="1"/>
          <p:nvPr/>
        </p:nvSpPr>
        <p:spPr>
          <a:xfrm>
            <a:off x="1463040" y="1600200"/>
            <a:ext cx="1562024" cy="566928"/>
          </a:xfrm>
          <a:prstGeom prst="rect">
            <a:avLst/>
          </a:prstGeom>
          <a:noFill/>
          <a:ln/>
        </p:spPr>
        <p:txBody>
          <a:bodyPr wrap="square" lIns="0" tIns="0" rIns="0" bIns="0" rtlCol="0" anchor="ctr"/>
          <a:lstStyle/>
          <a:p>
            <a:pPr indent="0" marL="0">
              <a:buNone/>
            </a:pPr>
            <a:r>
              <a:rPr lang="en-US" sz="2000" b="1" dirty="0">
                <a:solidFill>
                  <a:schemeClr val="bg1"/>
                </a:solidFill>
              </a:rPr>
              <a:t>Buy</a:t>
            </a:r>
            <a:endParaRPr lang="en-US" sz="2000" dirty="0"/>
          </a:p>
        </p:txBody>
      </p:sp>
      <p:sp>
        <p:nvSpPr>
          <p:cNvPr id="7" name="Buy problem label"/>
          <p:cNvSpPr txBox="1"/>
          <p:nvPr/>
        </p:nvSpPr>
        <p:spPr>
          <a:xfrm>
            <a:off x="777240" y="2350008"/>
            <a:ext cx="2110664" cy="237744"/>
          </a:xfrm>
          <a:prstGeom prst="rect">
            <a:avLst/>
          </a:prstGeom>
          <a:noFill/>
          <a:ln/>
        </p:spPr>
        <p:txBody>
          <a:bodyPr wrap="square" lIns="0" tIns="0" rIns="0" bIns="0" rtlCol="0" anchor="ctr"/>
          <a:lstStyle/>
          <a:p>
            <a:pPr indent="0" marL="0">
              <a:buNone/>
            </a:pPr>
            <a:r>
              <a:rPr lang="en-US" sz="1100" b="1" spc="200" kern="0" dirty="0">
                <a:solidFill>
                  <a:schemeClr val="bg2"/>
                </a:solidFill>
              </a:rPr>
              <a:t>THE PROBLEM</a:t>
            </a:r>
            <a:endParaRPr lang="en-US" sz="1100" dirty="0"/>
          </a:p>
        </p:txBody>
      </p:sp>
      <p:sp>
        <p:nvSpPr>
          <p:cNvPr id="8" name="Buy problem"/>
          <p:cNvSpPr txBox="1"/>
          <p:nvPr/>
        </p:nvSpPr>
        <p:spPr>
          <a:xfrm>
            <a:off x="777240" y="2606040"/>
            <a:ext cx="2110664" cy="822960"/>
          </a:xfrm>
          <a:prstGeom prst="rect">
            <a:avLst/>
          </a:prstGeom>
          <a:noFill/>
          <a:ln/>
        </p:spPr>
        <p:txBody>
          <a:bodyPr wrap="square" lIns="0" tIns="0" rIns="0" bIns="0" rtlCol="0" anchor="t"/>
          <a:lstStyle/>
          <a:p>
            <a:pPr indent="0" marL="0">
              <a:buNone/>
            </a:pPr>
            <a:r>
              <a:rPr lang="en-US" sz="1400" dirty="0">
                <a:solidFill>
                  <a:schemeClr val="bg2"/>
                </a:solidFill>
              </a:rPr>
              <a:t>Buyers scroll thousands of listings and can't see a car's full past.</a:t>
            </a:r>
            <a:endParaRPr lang="en-US" sz="1400" dirty="0"/>
          </a:p>
        </p:txBody>
      </p:sp>
      <p:sp>
        <p:nvSpPr>
          <p:cNvPr id="9" name="Buy new label"/>
          <p:cNvSpPr txBox="1"/>
          <p:nvPr/>
        </p:nvSpPr>
        <p:spPr>
          <a:xfrm>
            <a:off x="777240" y="3474720"/>
            <a:ext cx="2110664" cy="237744"/>
          </a:xfrm>
          <a:prstGeom prst="rect">
            <a:avLst/>
          </a:prstGeom>
          <a:noFill/>
          <a:ln/>
        </p:spPr>
        <p:txBody>
          <a:bodyPr wrap="square" lIns="0" tIns="0" rIns="0" bIns="0" rtlCol="0" anchor="ctr"/>
          <a:lstStyle/>
          <a:p>
            <a:pPr indent="0" marL="0">
              <a:buNone/>
            </a:pPr>
            <a:r>
              <a:rPr lang="en-US" sz="1100" b="1" spc="200" kern="0" dirty="0">
                <a:solidFill>
                  <a:schemeClr val="accent2"/>
                </a:solidFill>
              </a:rPr>
              <a:t>WHAT'S NEW</a:t>
            </a:r>
            <a:endParaRPr lang="en-US" sz="1100" dirty="0"/>
          </a:p>
        </p:txBody>
      </p:sp>
      <p:sp>
        <p:nvSpPr>
          <p:cNvPr id="10" name="Buy new"/>
          <p:cNvSpPr txBox="1"/>
          <p:nvPr/>
        </p:nvSpPr>
        <p:spPr>
          <a:xfrm>
            <a:off x="777240" y="3730752"/>
            <a:ext cx="2110664" cy="1188720"/>
          </a:xfrm>
          <a:prstGeom prst="rect">
            <a:avLst/>
          </a:prstGeom>
          <a:noFill/>
          <a:ln/>
        </p:spPr>
        <p:txBody>
          <a:bodyPr wrap="square" lIns="0" tIns="0" rIns="0" bIns="0" rtlCol="0" anchor="t"/>
          <a:lstStyle/>
          <a:p>
            <a:pPr indent="0" marL="0">
              <a:buNone/>
            </a:pPr>
            <a:r>
              <a:rPr lang="en-US" sz="1400" dirty="0">
                <a:solidFill>
                  <a:schemeClr val="bg1"/>
                </a:solidFill>
              </a:rPr>
              <a:t>One request searches both marketplaces, and the history check joins ACV + Copart records to catch washed titles.</a:t>
            </a:r>
            <a:endParaRPr lang="en-US" sz="1400" dirty="0"/>
          </a:p>
        </p:txBody>
      </p:sp>
      <p:sp>
        <p:nvSpPr>
          <p:cNvPr id="11" name="Sell card"/>
          <p:cNvSpPr/>
          <p:nvPr/>
        </p:nvSpPr>
        <p:spPr>
          <a:xfrm>
            <a:off x="3390824" y="1371600"/>
            <a:ext cx="2567864" cy="3611880"/>
          </a:xfrm>
          <a:prstGeom prst="roundRect">
            <a:avLst>
              <a:gd name="adj" fmla="val 4273"/>
            </a:avLst>
          </a:prstGeom>
          <a:solidFill>
            <a:schemeClr val="accent6"/>
          </a:solidFill>
          <a:ln w="12700">
            <a:solidFill>
              <a:schemeClr val="accent6"/>
            </a:solidFill>
            <a:prstDash val="solid"/>
          </a:ln>
        </p:spPr>
      </p:sp>
      <p:sp>
        <p:nvSpPr>
          <p:cNvPr id="12" name="Sell agent circle"/>
          <p:cNvSpPr/>
          <p:nvPr/>
        </p:nvSpPr>
        <p:spPr>
          <a:xfrm>
            <a:off x="3619424" y="1600200"/>
            <a:ext cx="566928" cy="566928"/>
          </a:xfrm>
          <a:prstGeom prst="ellipse">
            <a:avLst/>
          </a:prstGeom>
          <a:solidFill>
            <a:schemeClr val="accent1"/>
          </a:solidFill>
          <a:ln w="12700">
            <a:solidFill>
              <a:schemeClr val="accent1"/>
            </a:solidFill>
            <a:prstDash val="solid"/>
          </a:ln>
        </p:spPr>
      </p:sp>
      <p:pic>
        <p:nvPicPr>
          <p:cNvPr id="13" name="Sell agent icon" descr="preencoded.png">    </p:cNvPr>
          <p:cNvPicPr>
            <a:picLocks noChangeAspect="1"/>
          </p:cNvPicPr>
          <p:nvPr/>
        </p:nvPicPr>
        <p:blipFill>
          <a:blip r:embed="rId2"/>
          <a:stretch>
            <a:fillRect/>
          </a:stretch>
        </p:blipFill>
        <p:spPr>
          <a:xfrm>
            <a:off x="3761156" y="1741932"/>
            <a:ext cx="283464" cy="283464"/>
          </a:xfrm>
          <a:prstGeom prst="rect">
            <a:avLst/>
          </a:prstGeom>
        </p:spPr>
      </p:pic>
      <p:sp>
        <p:nvSpPr>
          <p:cNvPr id="14" name="Sell heading"/>
          <p:cNvSpPr txBox="1"/>
          <p:nvPr/>
        </p:nvSpPr>
        <p:spPr>
          <a:xfrm>
            <a:off x="4305224" y="1600200"/>
            <a:ext cx="1562024" cy="566928"/>
          </a:xfrm>
          <a:prstGeom prst="rect">
            <a:avLst/>
          </a:prstGeom>
          <a:noFill/>
          <a:ln/>
        </p:spPr>
        <p:txBody>
          <a:bodyPr wrap="square" lIns="0" tIns="0" rIns="0" bIns="0" rtlCol="0" anchor="ctr"/>
          <a:lstStyle/>
          <a:p>
            <a:pPr indent="0" marL="0">
              <a:buNone/>
            </a:pPr>
            <a:r>
              <a:rPr lang="en-US" sz="2000" b="1" dirty="0">
                <a:solidFill>
                  <a:schemeClr val="bg1"/>
                </a:solidFill>
              </a:rPr>
              <a:t>Sell</a:t>
            </a:r>
            <a:endParaRPr lang="en-US" sz="2000" dirty="0"/>
          </a:p>
        </p:txBody>
      </p:sp>
      <p:sp>
        <p:nvSpPr>
          <p:cNvPr id="15" name="Sell problem label"/>
          <p:cNvSpPr txBox="1"/>
          <p:nvPr/>
        </p:nvSpPr>
        <p:spPr>
          <a:xfrm>
            <a:off x="3619424" y="2350008"/>
            <a:ext cx="2110664" cy="237744"/>
          </a:xfrm>
          <a:prstGeom prst="rect">
            <a:avLst/>
          </a:prstGeom>
          <a:noFill/>
          <a:ln/>
        </p:spPr>
        <p:txBody>
          <a:bodyPr wrap="square" lIns="0" tIns="0" rIns="0" bIns="0" rtlCol="0" anchor="ctr"/>
          <a:lstStyle/>
          <a:p>
            <a:pPr indent="0" marL="0">
              <a:buNone/>
            </a:pPr>
            <a:r>
              <a:rPr lang="en-US" sz="1100" b="1" spc="200" kern="0" dirty="0">
                <a:solidFill>
                  <a:schemeClr val="bg2"/>
                </a:solidFill>
              </a:rPr>
              <a:t>THE PROBLEM</a:t>
            </a:r>
            <a:endParaRPr lang="en-US" sz="1100" dirty="0"/>
          </a:p>
        </p:txBody>
      </p:sp>
      <p:sp>
        <p:nvSpPr>
          <p:cNvPr id="16" name="Sell problem"/>
          <p:cNvSpPr txBox="1"/>
          <p:nvPr/>
        </p:nvSpPr>
        <p:spPr>
          <a:xfrm>
            <a:off x="3619424" y="2606040"/>
            <a:ext cx="2110664" cy="822960"/>
          </a:xfrm>
          <a:prstGeom prst="rect">
            <a:avLst/>
          </a:prstGeom>
          <a:noFill/>
          <a:ln/>
        </p:spPr>
        <p:txBody>
          <a:bodyPr wrap="square" lIns="0" tIns="0" rIns="0" bIns="0" rtlCol="0" anchor="t"/>
          <a:lstStyle/>
          <a:p>
            <a:pPr indent="0" marL="0">
              <a:buNone/>
            </a:pPr>
            <a:r>
              <a:rPr lang="en-US" sz="1400" dirty="0">
                <a:solidFill>
                  <a:schemeClr val="bg2"/>
                </a:solidFill>
              </a:rPr>
              <a:t>The right buyer often misses the 20-minute auction.</a:t>
            </a:r>
            <a:endParaRPr lang="en-US" sz="1400" dirty="0"/>
          </a:p>
        </p:txBody>
      </p:sp>
      <p:sp>
        <p:nvSpPr>
          <p:cNvPr id="17" name="Sell new label"/>
          <p:cNvSpPr txBox="1"/>
          <p:nvPr/>
        </p:nvSpPr>
        <p:spPr>
          <a:xfrm>
            <a:off x="3619424" y="3474720"/>
            <a:ext cx="2110664" cy="237744"/>
          </a:xfrm>
          <a:prstGeom prst="rect">
            <a:avLst/>
          </a:prstGeom>
          <a:noFill/>
          <a:ln/>
        </p:spPr>
        <p:txBody>
          <a:bodyPr wrap="square" lIns="0" tIns="0" rIns="0" bIns="0" rtlCol="0" anchor="ctr"/>
          <a:lstStyle/>
          <a:p>
            <a:pPr indent="0" marL="0">
              <a:buNone/>
            </a:pPr>
            <a:r>
              <a:rPr lang="en-US" sz="1100" b="1" spc="200" kern="0" dirty="0">
                <a:solidFill>
                  <a:schemeClr val="accent2"/>
                </a:solidFill>
              </a:rPr>
              <a:t>WHAT'S NEW</a:t>
            </a:r>
            <a:endParaRPr lang="en-US" sz="1100" dirty="0"/>
          </a:p>
        </p:txBody>
      </p:sp>
      <p:sp>
        <p:nvSpPr>
          <p:cNvPr id="18" name="Sell new"/>
          <p:cNvSpPr txBox="1"/>
          <p:nvPr/>
        </p:nvSpPr>
        <p:spPr>
          <a:xfrm>
            <a:off x="3619424" y="3730752"/>
            <a:ext cx="2110664" cy="1188720"/>
          </a:xfrm>
          <a:prstGeom prst="rect">
            <a:avLst/>
          </a:prstGeom>
          <a:noFill/>
          <a:ln/>
        </p:spPr>
        <p:txBody>
          <a:bodyPr wrap="square" lIns="0" tIns="0" rIns="0" bIns="0" rtlCol="0" anchor="t"/>
          <a:lstStyle/>
          <a:p>
            <a:pPr indent="0" marL="0">
              <a:buNone/>
            </a:pPr>
            <a:r>
              <a:rPr lang="en-US" sz="1400" dirty="0">
                <a:solidFill>
                  <a:schemeClr val="bg1"/>
                </a:solidFill>
              </a:rPr>
              <a:t>The car finds its buyer: saved requests are matched and alerted before the auction starts.</a:t>
            </a:r>
            <a:endParaRPr lang="en-US" sz="1400" dirty="0"/>
          </a:p>
        </p:txBody>
      </p:sp>
      <p:sp>
        <p:nvSpPr>
          <p:cNvPr id="19" name="Negotiate card"/>
          <p:cNvSpPr/>
          <p:nvPr/>
        </p:nvSpPr>
        <p:spPr>
          <a:xfrm>
            <a:off x="6233008" y="1371600"/>
            <a:ext cx="2567864" cy="3611880"/>
          </a:xfrm>
          <a:prstGeom prst="roundRect">
            <a:avLst>
              <a:gd name="adj" fmla="val 4273"/>
            </a:avLst>
          </a:prstGeom>
          <a:solidFill>
            <a:schemeClr val="accent6"/>
          </a:solidFill>
          <a:ln w="12700">
            <a:solidFill>
              <a:schemeClr val="accent6"/>
            </a:solidFill>
            <a:prstDash val="solid"/>
          </a:ln>
        </p:spPr>
      </p:sp>
      <p:sp>
        <p:nvSpPr>
          <p:cNvPr id="20" name="Negotiate agent circle"/>
          <p:cNvSpPr/>
          <p:nvPr/>
        </p:nvSpPr>
        <p:spPr>
          <a:xfrm>
            <a:off x="6461608" y="1600200"/>
            <a:ext cx="566928" cy="566928"/>
          </a:xfrm>
          <a:prstGeom prst="ellipse">
            <a:avLst/>
          </a:prstGeom>
          <a:solidFill>
            <a:schemeClr val="accent1"/>
          </a:solidFill>
          <a:ln w="12700">
            <a:solidFill>
              <a:schemeClr val="accent1"/>
            </a:solidFill>
            <a:prstDash val="solid"/>
          </a:ln>
        </p:spPr>
      </p:sp>
      <p:pic>
        <p:nvPicPr>
          <p:cNvPr id="21" name="Negotiate agent icon" descr="preencoded.png">    </p:cNvPr>
          <p:cNvPicPr>
            <a:picLocks noChangeAspect="1"/>
          </p:cNvPicPr>
          <p:nvPr/>
        </p:nvPicPr>
        <p:blipFill>
          <a:blip r:embed="rId3"/>
          <a:stretch>
            <a:fillRect/>
          </a:stretch>
        </p:blipFill>
        <p:spPr>
          <a:xfrm>
            <a:off x="6603340" y="1741932"/>
            <a:ext cx="283464" cy="283464"/>
          </a:xfrm>
          <a:prstGeom prst="rect">
            <a:avLst/>
          </a:prstGeom>
        </p:spPr>
      </p:pic>
      <p:sp>
        <p:nvSpPr>
          <p:cNvPr id="22" name="Negotiate heading"/>
          <p:cNvSpPr txBox="1"/>
          <p:nvPr/>
        </p:nvSpPr>
        <p:spPr>
          <a:xfrm>
            <a:off x="7147408" y="1600200"/>
            <a:ext cx="1562024" cy="566928"/>
          </a:xfrm>
          <a:prstGeom prst="rect">
            <a:avLst/>
          </a:prstGeom>
          <a:noFill/>
          <a:ln/>
        </p:spPr>
        <p:txBody>
          <a:bodyPr wrap="square" lIns="0" tIns="0" rIns="0" bIns="0" rtlCol="0" anchor="ctr"/>
          <a:lstStyle/>
          <a:p>
            <a:pPr indent="0" marL="0">
              <a:buNone/>
            </a:pPr>
            <a:r>
              <a:rPr lang="en-US" sz="2000" b="1" dirty="0">
                <a:solidFill>
                  <a:schemeClr val="bg1"/>
                </a:solidFill>
              </a:rPr>
              <a:t>Negotiate</a:t>
            </a:r>
            <a:endParaRPr lang="en-US" sz="2000" dirty="0"/>
          </a:p>
        </p:txBody>
      </p:sp>
      <p:sp>
        <p:nvSpPr>
          <p:cNvPr id="23" name="Negotiate problem label"/>
          <p:cNvSpPr txBox="1"/>
          <p:nvPr/>
        </p:nvSpPr>
        <p:spPr>
          <a:xfrm>
            <a:off x="6461608" y="2350008"/>
            <a:ext cx="2110664" cy="237744"/>
          </a:xfrm>
          <a:prstGeom prst="rect">
            <a:avLst/>
          </a:prstGeom>
          <a:noFill/>
          <a:ln/>
        </p:spPr>
        <p:txBody>
          <a:bodyPr wrap="square" lIns="0" tIns="0" rIns="0" bIns="0" rtlCol="0" anchor="ctr"/>
          <a:lstStyle/>
          <a:p>
            <a:pPr indent="0" marL="0">
              <a:buNone/>
            </a:pPr>
            <a:r>
              <a:rPr lang="en-US" sz="1100" b="1" spc="200" kern="0" dirty="0">
                <a:solidFill>
                  <a:schemeClr val="bg2"/>
                </a:solidFill>
              </a:rPr>
              <a:t>THE PROBLEM</a:t>
            </a:r>
            <a:endParaRPr lang="en-US" sz="1100" dirty="0"/>
          </a:p>
        </p:txBody>
      </p:sp>
      <p:sp>
        <p:nvSpPr>
          <p:cNvPr id="24" name="Negotiate problem"/>
          <p:cNvSpPr txBox="1"/>
          <p:nvPr/>
        </p:nvSpPr>
        <p:spPr>
          <a:xfrm>
            <a:off x="6461608" y="2606040"/>
            <a:ext cx="2110664" cy="822960"/>
          </a:xfrm>
          <a:prstGeom prst="rect">
            <a:avLst/>
          </a:prstGeom>
          <a:noFill/>
          <a:ln/>
        </p:spPr>
        <p:txBody>
          <a:bodyPr wrap="square" lIns="0" tIns="0" rIns="0" bIns="0" rtlCol="0" anchor="t"/>
          <a:lstStyle/>
          <a:p>
            <a:pPr indent="0" marL="0">
              <a:buNone/>
            </a:pPr>
            <a:r>
              <a:rPr lang="en-US" sz="1400" dirty="0">
                <a:solidFill>
                  <a:schemeClr val="bg2"/>
                </a:solidFill>
              </a:rPr>
              <a:t>When the ask is above the top bid, the sale just dies.</a:t>
            </a:r>
            <a:endParaRPr lang="en-US" sz="1400" dirty="0"/>
          </a:p>
        </p:txBody>
      </p:sp>
      <p:sp>
        <p:nvSpPr>
          <p:cNvPr id="25" name="Negotiate new label"/>
          <p:cNvSpPr txBox="1"/>
          <p:nvPr/>
        </p:nvSpPr>
        <p:spPr>
          <a:xfrm>
            <a:off x="6461608" y="3474720"/>
            <a:ext cx="2110664" cy="237744"/>
          </a:xfrm>
          <a:prstGeom prst="rect">
            <a:avLst/>
          </a:prstGeom>
          <a:noFill/>
          <a:ln/>
        </p:spPr>
        <p:txBody>
          <a:bodyPr wrap="square" lIns="0" tIns="0" rIns="0" bIns="0" rtlCol="0" anchor="ctr"/>
          <a:lstStyle/>
          <a:p>
            <a:pPr indent="0" marL="0">
              <a:buNone/>
            </a:pPr>
            <a:r>
              <a:rPr lang="en-US" sz="1100" b="1" spc="200" kern="0" dirty="0">
                <a:solidFill>
                  <a:schemeClr val="accent2"/>
                </a:solidFill>
              </a:rPr>
              <a:t>WHAT'S NEW</a:t>
            </a:r>
            <a:endParaRPr lang="en-US" sz="1100" dirty="0"/>
          </a:p>
        </p:txBody>
      </p:sp>
      <p:sp>
        <p:nvSpPr>
          <p:cNvPr id="26" name="Negotiate new"/>
          <p:cNvSpPr txBox="1"/>
          <p:nvPr/>
        </p:nvSpPr>
        <p:spPr>
          <a:xfrm>
            <a:off x="6461608" y="3730752"/>
            <a:ext cx="2110664" cy="1188720"/>
          </a:xfrm>
          <a:prstGeom prst="rect">
            <a:avLst/>
          </a:prstGeom>
          <a:noFill/>
          <a:ln/>
        </p:spPr>
        <p:txBody>
          <a:bodyPr wrap="square" lIns="0" tIns="0" rIns="0" bIns="0" rtlCol="0" anchor="t"/>
          <a:lstStyle/>
          <a:p>
            <a:pPr indent="0" marL="0">
              <a:buNone/>
            </a:pPr>
            <a:r>
              <a:rPr lang="en-US" sz="1400" dirty="0">
                <a:solidFill>
                  <a:schemeClr val="bg1"/>
                </a:solidFill>
              </a:rPr>
              <a:t>An AI mediator works with each side's private limit, then closes the deal: payment, insurance, loan payoff, title, truck.</a:t>
            </a:r>
            <a:endParaRPr lang="en-US" sz="1400" dirty="0"/>
          </a:p>
        </p:txBody>
      </p:sp>
      <p:sp>
        <p:nvSpPr>
          <p:cNvPr id="27" name="Fleet card"/>
          <p:cNvSpPr/>
          <p:nvPr/>
        </p:nvSpPr>
        <p:spPr>
          <a:xfrm>
            <a:off x="9075191" y="1371600"/>
            <a:ext cx="2567864" cy="3611880"/>
          </a:xfrm>
          <a:prstGeom prst="roundRect">
            <a:avLst>
              <a:gd name="adj" fmla="val 4273"/>
            </a:avLst>
          </a:prstGeom>
          <a:solidFill>
            <a:schemeClr val="accent6"/>
          </a:solidFill>
          <a:ln w="12700">
            <a:solidFill>
              <a:schemeClr val="accent6"/>
            </a:solidFill>
            <a:prstDash val="solid"/>
          </a:ln>
        </p:spPr>
      </p:sp>
      <p:sp>
        <p:nvSpPr>
          <p:cNvPr id="28" name="Fleet agent circle"/>
          <p:cNvSpPr/>
          <p:nvPr/>
        </p:nvSpPr>
        <p:spPr>
          <a:xfrm>
            <a:off x="9303791" y="1600200"/>
            <a:ext cx="566928" cy="566928"/>
          </a:xfrm>
          <a:prstGeom prst="ellipse">
            <a:avLst/>
          </a:prstGeom>
          <a:solidFill>
            <a:schemeClr val="accent1"/>
          </a:solidFill>
          <a:ln w="12700">
            <a:solidFill>
              <a:schemeClr val="accent1"/>
            </a:solidFill>
            <a:prstDash val="solid"/>
          </a:ln>
        </p:spPr>
      </p:sp>
      <p:pic>
        <p:nvPicPr>
          <p:cNvPr id="29" name="Fleet agent icon" descr="preencoded.png">    </p:cNvPr>
          <p:cNvPicPr>
            <a:picLocks noChangeAspect="1"/>
          </p:cNvPicPr>
          <p:nvPr/>
        </p:nvPicPr>
        <p:blipFill>
          <a:blip r:embed="rId4"/>
          <a:stretch>
            <a:fillRect/>
          </a:stretch>
        </p:blipFill>
        <p:spPr>
          <a:xfrm>
            <a:off x="9445523" y="1741932"/>
            <a:ext cx="283464" cy="283464"/>
          </a:xfrm>
          <a:prstGeom prst="rect">
            <a:avLst/>
          </a:prstGeom>
        </p:spPr>
      </p:pic>
      <p:sp>
        <p:nvSpPr>
          <p:cNvPr id="30" name="Fleet heading"/>
          <p:cNvSpPr txBox="1"/>
          <p:nvPr/>
        </p:nvSpPr>
        <p:spPr>
          <a:xfrm>
            <a:off x="9989591" y="1600200"/>
            <a:ext cx="1562024" cy="566928"/>
          </a:xfrm>
          <a:prstGeom prst="rect">
            <a:avLst/>
          </a:prstGeom>
          <a:noFill/>
          <a:ln/>
        </p:spPr>
        <p:txBody>
          <a:bodyPr wrap="square" lIns="0" tIns="0" rIns="0" bIns="0" rtlCol="0" anchor="ctr"/>
          <a:lstStyle/>
          <a:p>
            <a:pPr indent="0" marL="0">
              <a:buNone/>
            </a:pPr>
            <a:r>
              <a:rPr lang="en-US" sz="2000" b="1" dirty="0">
                <a:solidFill>
                  <a:schemeClr val="bg1"/>
                </a:solidFill>
              </a:rPr>
              <a:t>Fleet</a:t>
            </a:r>
            <a:endParaRPr lang="en-US" sz="2000" dirty="0"/>
          </a:p>
        </p:txBody>
      </p:sp>
      <p:sp>
        <p:nvSpPr>
          <p:cNvPr id="31" name="Fleet problem label"/>
          <p:cNvSpPr txBox="1"/>
          <p:nvPr/>
        </p:nvSpPr>
        <p:spPr>
          <a:xfrm>
            <a:off x="9303791" y="2350008"/>
            <a:ext cx="2110664" cy="237744"/>
          </a:xfrm>
          <a:prstGeom prst="rect">
            <a:avLst/>
          </a:prstGeom>
          <a:noFill/>
          <a:ln/>
        </p:spPr>
        <p:txBody>
          <a:bodyPr wrap="square" lIns="0" tIns="0" rIns="0" bIns="0" rtlCol="0" anchor="ctr"/>
          <a:lstStyle/>
          <a:p>
            <a:pPr indent="0" marL="0">
              <a:buNone/>
            </a:pPr>
            <a:r>
              <a:rPr lang="en-US" sz="1100" b="1" spc="200" kern="0" dirty="0">
                <a:solidFill>
                  <a:schemeClr val="bg2"/>
                </a:solidFill>
              </a:rPr>
              <a:t>THE PROBLEM</a:t>
            </a:r>
            <a:endParaRPr lang="en-US" sz="1100" dirty="0"/>
          </a:p>
        </p:txBody>
      </p:sp>
      <p:sp>
        <p:nvSpPr>
          <p:cNvPr id="32" name="Fleet problem"/>
          <p:cNvSpPr txBox="1"/>
          <p:nvPr/>
        </p:nvSpPr>
        <p:spPr>
          <a:xfrm>
            <a:off x="9303791" y="2606040"/>
            <a:ext cx="2110664" cy="822960"/>
          </a:xfrm>
          <a:prstGeom prst="rect">
            <a:avLst/>
          </a:prstGeom>
          <a:noFill/>
          <a:ln/>
        </p:spPr>
        <p:txBody>
          <a:bodyPr wrap="square" lIns="0" tIns="0" rIns="0" bIns="0" rtlCol="0" anchor="t"/>
          <a:lstStyle/>
          <a:p>
            <a:pPr indent="0" marL="0">
              <a:buNone/>
            </a:pPr>
            <a:r>
              <a:rPr lang="en-US" sz="1400" dirty="0">
                <a:solidFill>
                  <a:schemeClr val="bg2"/>
                </a:solidFill>
              </a:rPr>
              <a:t>Hundreds of similar cars at once crash prices, and single trips eat the margin.</a:t>
            </a:r>
            <a:endParaRPr lang="en-US" sz="1400" dirty="0"/>
          </a:p>
        </p:txBody>
      </p:sp>
      <p:sp>
        <p:nvSpPr>
          <p:cNvPr id="33" name="Fleet new label"/>
          <p:cNvSpPr txBox="1"/>
          <p:nvPr/>
        </p:nvSpPr>
        <p:spPr>
          <a:xfrm>
            <a:off x="9303791" y="3474720"/>
            <a:ext cx="2110664" cy="237744"/>
          </a:xfrm>
          <a:prstGeom prst="rect">
            <a:avLst/>
          </a:prstGeom>
          <a:noFill/>
          <a:ln/>
        </p:spPr>
        <p:txBody>
          <a:bodyPr wrap="square" lIns="0" tIns="0" rIns="0" bIns="0" rtlCol="0" anchor="ctr"/>
          <a:lstStyle/>
          <a:p>
            <a:pPr indent="0" marL="0">
              <a:buNone/>
            </a:pPr>
            <a:r>
              <a:rPr lang="en-US" sz="1100" b="1" spc="200" kern="0" dirty="0">
                <a:solidFill>
                  <a:schemeClr val="accent2"/>
                </a:solidFill>
              </a:rPr>
              <a:t>WHAT'S NEW</a:t>
            </a:r>
            <a:endParaRPr lang="en-US" sz="1100" dirty="0"/>
          </a:p>
        </p:txBody>
      </p:sp>
      <p:sp>
        <p:nvSpPr>
          <p:cNvPr id="34" name="Fleet new"/>
          <p:cNvSpPr txBox="1"/>
          <p:nvPr/>
        </p:nvSpPr>
        <p:spPr>
          <a:xfrm>
            <a:off x="9303791" y="3730752"/>
            <a:ext cx="2110664" cy="1188720"/>
          </a:xfrm>
          <a:prstGeom prst="rect">
            <a:avLst/>
          </a:prstGeom>
          <a:noFill/>
          <a:ln/>
        </p:spPr>
        <p:txBody>
          <a:bodyPr wrap="square" lIns="0" tIns="0" rIns="0" bIns="0" rtlCol="0" anchor="t"/>
          <a:lstStyle/>
          <a:p>
            <a:pPr indent="0" marL="0">
              <a:buNone/>
            </a:pPr>
            <a:r>
              <a:rPr lang="en-US" sz="1400" dirty="0">
                <a:solidFill>
                  <a:schemeClr val="bg1"/>
                </a:solidFill>
              </a:rPr>
              <a:t>Plans where every truckload goes, market by market and week by week, so prices hold.</a:t>
            </a:r>
            <a:endParaRPr lang="en-US" sz="1400" dirty="0"/>
          </a:p>
        </p:txBody>
      </p:sp>
      <p:sp>
        <p:nvSpPr>
          <p:cNvPr id="35" name="Roadmap line"/>
          <p:cNvSpPr txBox="1"/>
          <p:nvPr/>
        </p:nvSpPr>
        <p:spPr>
          <a:xfrm>
            <a:off x="548640" y="5138928"/>
            <a:ext cx="11094415" cy="347472"/>
          </a:xfrm>
          <a:prstGeom prst="rect">
            <a:avLst/>
          </a:prstGeom>
          <a:noFill/>
          <a:ln/>
        </p:spPr>
        <p:txBody>
          <a:bodyPr wrap="square" lIns="0" tIns="0" rIns="0" bIns="0" rtlCol="0" anchor="ctr"/>
          <a:lstStyle/>
          <a:p>
            <a:pPr indent="0" marL="0">
              <a:buNone/>
            </a:pPr>
            <a:r>
              <a:rPr lang="en-US" sz="1400" b="1" dirty="0">
                <a:solidFill>
                  <a:schemeClr val="accent2"/>
                </a:solidFill>
              </a:rPr>
              <a:t>Next: </a:t>
            </a:r>
            <a:pPr indent="0" marL="0">
              <a:buNone/>
            </a:pPr>
            <a:r>
              <a:rPr lang="en-US" sz="1400" dirty="0">
                <a:solidFill>
                  <a:schemeClr val="bg1"/>
                </a:solidFill>
              </a:rPr>
              <a:t>connect to ACV + Copart inventory, inspections, financing and transport.  </a:t>
            </a:r>
            <a:pPr indent="0" marL="0">
              <a:buNone/>
            </a:pPr>
            <a:r>
              <a:rPr lang="en-US" sz="1400" b="1" dirty="0">
                <a:solidFill>
                  <a:schemeClr val="accent2"/>
                </a:solidFill>
              </a:rPr>
              <a:t>Then: </a:t>
            </a:r>
            <a:pPr indent="0" marL="0">
              <a:buNone/>
            </a:pPr>
            <a:r>
              <a:rPr lang="en-US" sz="1400" dirty="0">
                <a:solidFill>
                  <a:schemeClr val="bg1"/>
                </a:solidFill>
              </a:rPr>
              <a:t>a Car Health Score for lenders and insurers.</a:t>
            </a:r>
            <a:endParaRPr lang="en-US" sz="1400" dirty="0"/>
          </a:p>
        </p:txBody>
      </p:sp>
      <p:sp>
        <p:nvSpPr>
          <p:cNvPr id="36" name="Closing line"/>
          <p:cNvSpPr txBox="1"/>
          <p:nvPr/>
        </p:nvSpPr>
        <p:spPr>
          <a:xfrm>
            <a:off x="548640" y="5596128"/>
            <a:ext cx="11094415" cy="566928"/>
          </a:xfrm>
          <a:prstGeom prst="rect">
            <a:avLst/>
          </a:prstGeom>
          <a:noFill/>
          <a:ln/>
        </p:spPr>
        <p:txBody>
          <a:bodyPr wrap="square" lIns="0" tIns="0" rIns="0" bIns="0" rtlCol="0" anchor="ctr"/>
          <a:lstStyle/>
          <a:p>
            <a:pPr algn="ctr" indent="0" marL="0">
              <a:buNone/>
            </a:pPr>
            <a:r>
              <a:rPr lang="en-US" sz="3000" i="1" dirty="0">
                <a:solidFill>
                  <a:schemeClr val="bg1"/>
                </a:solidFill>
                <a:latin typeface="+mj-lt" pitchFamily="34" charset="0"/>
                <a:ea typeface="+mj-lt" pitchFamily="34" charset="-122"/>
                <a:cs typeface="+mj-lt" pitchFamily="34" charset="-120"/>
              </a:rPr>
              <a:t>Going once, going twice… </a:t>
            </a:r>
            <a:pPr algn="ctr" indent="0" marL="0">
              <a:buNone/>
            </a:pPr>
            <a:r>
              <a:rPr lang="en-US" sz="3000" b="1" i="1" dirty="0">
                <a:solidFill>
                  <a:schemeClr val="accent1"/>
                </a:solidFill>
                <a:latin typeface="+mj-lt" pitchFamily="34" charset="0"/>
                <a:ea typeface="+mj-lt" pitchFamily="34" charset="-122"/>
                <a:cs typeface="+mj-lt" pitchFamily="34" charset="-120"/>
              </a:rPr>
              <a:t>SOLD.</a:t>
            </a:r>
            <a:endParaRPr lang="en-US" sz="30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GoingOnce">
  <a:themeElements>
    <a:clrScheme name="GoingOnce">
      <a:dk1>
        <a:srgbClr val="0F1C2E"/>
      </a:dk1>
      <a:lt1>
        <a:srgbClr val="FFFFFF"/>
      </a:lt1>
      <a:dk2>
        <a:srgbClr val="5B6B7F"/>
      </a:dk2>
      <a:lt2>
        <a:srgbClr val="F3F5F8"/>
      </a:lt2>
      <a:accent1>
        <a:srgbClr val="FF6B35"/>
      </a:accent1>
      <a:accent2>
        <a:srgbClr val="FFC145"/>
      </a:accent2>
      <a:accent3>
        <a:srgbClr val="1FA187"/>
      </a:accent3>
      <a:accent4>
        <a:srgbClr val="3D7BF7"/>
      </a:accent4>
      <a:accent5>
        <a:srgbClr val="7C5CFA"/>
      </a:accent5>
      <a:accent6>
        <a:srgbClr val="1E2E45"/>
      </a:accent6>
      <a:hlink>
        <a:srgbClr val="3D7BF7"/>
      </a:hlink>
      <a:folHlink>
        <a:srgbClr val="7C5CFA"/>
      </a:folHlink>
    </a:clrScheme>
    <a:fontScheme name="GoingO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GoingOnce</dc:title>
  <dc:subject>PptxGenJS Presentation</dc:subject>
  <dc:creator>Team GoingOnce</dc:creator>
  <cp:lastModifiedBy>Team GoingOnce</cp:lastModifiedBy>
  <cp:revision>1</cp:revision>
  <dcterms:created xsi:type="dcterms:W3CDTF">2026-10-03T18:33:52Z</dcterms:created>
  <dcterms:modified xsi:type="dcterms:W3CDTF">2026-10-03T18:33:52Z</dcterms:modified>
</cp:coreProperties>
</file>