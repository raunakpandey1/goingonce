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da844ee-8122-43b5-070b-2dfb5bfe1415}">
          <p14:sldIdLst>
            <p14:sldId id="256"/>
          </p14:sldIdLst>
        </p14:section>
        <p14:section name="Problem and solution" id="{4167b064-87ea-e60f-9ff5-c46d558c0abd}">
          <p14:sldIdLst>
            <p14:sldId id="257"/>
          </p14:sldIdLst>
        </p14:section>
        <p14:section name="Demo" id="{11ffff5c-ed75-35fd-6076-d77c55dce9e9}">
          <p14:sldIdLst>
            <p14:sldId id="258"/>
          </p14:sldIdLst>
        </p14:section>
        <p14:section name="AI for Good" id="{6c10338d-5d86-6257-e0e6-d00354231922}">
          <p14:sldIdLst>
            <p14:sldId id="259"/>
          </p14:sldIdLst>
        </p14:section>
        <p14:section name="Impact and next steps" id="{d315072a-988f-12aa-be85-d32ff5f3fc7d}">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Hi, we're Team GoingOnce. At every car auction you hear 'going once, going twice'... but a lot of cars never hear 'sold'. And ACV only earns when a car sells. We built four AI agents for the combined ACV and Copart that get more cars to 'sold'.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0:15–1:15
Situation: ACV runs 20-minute online auctions for dealers, Copart sells damaged cars to buyers worldwide, and they're becoming one company. But cars still go unsold: the right buyer isn't watching, the price doesn't meet, or hidden damage scares buyers off. And ACV only earns on a sale.
Task: turn more listings into sales, catch hidden damage before anyone buys, and move cars at the lowest cost.
Action: GoingOnce is four AI agents that do the work while people approve every money step: Buy, Sell, Negotiate, Fleet.
Result, in our demo: a flood car caught before purchase, three buyers lined up before the auction, a $3,000 price gap closed, and $349K more for one fleet. Let's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1:15–3:45 (demo video, about 2.5 minutes)
Buy: 'Reason one: buyers can't find the right car, or can't trust it. It searched ACV and Copart and checked every car's history. This cheap one was flooded and hidden behind a clean title. Nothing is bought without his OK.'
Sell: 'Reason two: the right buyer isn't watching during the auction. AI wrote the condition report, ACV pays her the most, and three buyers are already waiting, including the dealer we just saw.'
Negotiate: 'Reason three: the seller wants $15,000, the top bid is $12,000. The AI shows real market prices, they meet in three rounds, and it closes itself: payment, insurance, loan payoff, title, truck.'
Fleet: 'Reason four is scale. 120 rental cars in full trucks to seven cities: $349K more, $108 a car to ship.'
To add the video: Insert &gt; Video &gt; Video from File, then drag it over the dark area on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3:45–4:25
Why this is AI for Good: it protects families from flood cars, washed titles and odometer fraud before anyone buys. Deals are fair: each side keeps its own limit and sees real market prices. It cuts waste: full trucks instead of single trips, and unsold cars reach buyers worldwide instead of the scrapyard. And people stay in control: the AI never spends money or signs anything without a person's 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4:25–5:00
For ACV: every rescued deal is revenue that would have been zero, like the $876 in our demo, and fleets earn far more with lower transport. Today it's four working agents on demo data. Next, connect them to ACV and Copart's real inventory, inspections, financing and transport. Then, a Car Health Score that lenders and insurers can use, and more buyers worldwide. We shaped this with feedback from ACV's mentors. Going once, going twice... sold.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O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583680" cy="118872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3" name="Text 0"/>
          <p:cNvSpPr/>
          <p:nvPr>
            <p:ph idx="101" type="body" hasCustomPrompt="1"/>
          </p:nvPr>
        </p:nvSpPr>
        <p:spPr>
          <a:xfrm>
            <a:off x="731520" y="3154680"/>
            <a:ext cx="6583680" cy="1188720"/>
          </a:xfrm>
          <a:prstGeom prst="rect">
            <a:avLst/>
          </a:prstGeom>
          <a:noFill/>
          <a:ln/>
        </p:spPr>
        <p:txBody>
          <a:bodyPr wrap="square" rtlCol="0"/>
          <a:lstStyle>
            <a:lvl1pPr algn="l" indent="0" marL="0">
              <a:buNone/>
              <a:defRPr lang="en-US" sz="2200" dirty="0">
                <a:solidFill>
                  <a:schemeClr val="bg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O Content 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tx2"/>
                </a:solidFill>
              </a:rPr>
              <a:t>GoingOnce  ·  UB AI for Good Hackathon 2026</a:t>
            </a:r>
            <a:endParaRPr lang="en-US" sz="10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O Content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bg2"/>
                </a:solidFill>
              </a:rPr>
              <a:t>GoingOnce  ·  UB AI for Good Hackathon 2026</a:t>
            </a:r>
            <a:endParaRPr lang="en-US" sz="10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am name"/>
          <p:cNvSpPr txBox="1"/>
          <p:nvPr/>
        </p:nvSpPr>
        <p:spPr>
          <a:xfrm>
            <a:off x="731520" y="1417320"/>
            <a:ext cx="5486400" cy="365760"/>
          </a:xfrm>
          <a:prstGeom prst="rect">
            <a:avLst/>
          </a:prstGeom>
          <a:noFill/>
          <a:ln/>
        </p:spPr>
        <p:txBody>
          <a:bodyPr wrap="square" lIns="0" tIns="0" rIns="0" bIns="0" rtlCol="0" anchor="ctr"/>
          <a:lstStyle/>
          <a:p>
            <a:pPr indent="0" marL="0">
              <a:buNone/>
            </a:pPr>
            <a:r>
              <a:rPr lang="en-US" sz="1400" b="1" spc="400" kern="0" dirty="0">
                <a:solidFill>
                  <a:schemeClr val="accent2"/>
                </a:solidFill>
              </a:rPr>
              <a:t>TEAM GOINGONCE</a:t>
            </a:r>
            <a:endParaRPr lang="en-US" sz="1400" dirty="0"/>
          </a:p>
        </p:txBody>
      </p:sp>
      <p:sp>
        <p:nvSpPr>
          <p:cNvPr id="3" name="Text 0"/>
          <p:cNvSpPr/>
          <p:nvPr>
            <p:ph idx="100" type="title" hasCustomPrompt="1"/>
          </p:nvPr>
        </p:nvSpPr>
        <p:spPr>
          <a:xfrm>
            <a:off x="731520" y="1828800"/>
            <a:ext cx="6583680" cy="1188720"/>
          </a:xfrm>
          <a:prstGeom prst="rect">
            <a:avLst/>
          </a:prstGeom>
          <a:noFill/>
          <a:ln/>
        </p:spPr>
        <p:txBody>
          <a:bodyPr wrap="square" lIns="0" tIns="0" rIns="0" bIns="0" rtlCol="0" anchor="b"/>
          <a:lstStyle/>
          <a:p>
            <a:pPr algn="l" indent="0" marL="0">
              <a:buNone/>
            </a:pPr>
            <a:r>
              <a:rPr lang="en-US" sz="6600" b="1" dirty="0">
                <a:solidFill>
                  <a:schemeClr val="bg1"/>
                </a:solidFill>
              </a:rPr>
              <a:t>GoingOnce</a:t>
            </a:r>
            <a:endParaRPr lang="en-US" sz="6600" dirty="0"/>
          </a:p>
        </p:txBody>
      </p:sp>
      <p:sp>
        <p:nvSpPr>
          <p:cNvPr id="4" name="Text 0"/>
          <p:cNvSpPr/>
          <p:nvPr>
            <p:ph idx="101" type="body" hasCustomPrompt="1"/>
          </p:nvPr>
        </p:nvSpPr>
        <p:spPr>
          <a:xfrm>
            <a:off x="731520" y="3154680"/>
            <a:ext cx="6583680" cy="1188720"/>
          </a:xfrm>
          <a:prstGeom prst="rect">
            <a:avLst/>
          </a:prstGeom>
          <a:noFill/>
          <a:ln/>
        </p:spPr>
        <p:txBody>
          <a:bodyPr wrap="square" lIns="0" tIns="0" rIns="0" bIns="0" rtlCol="0" anchor="t"/>
          <a:lstStyle/>
          <a:p>
            <a:pPr algn="l" indent="0" marL="0">
              <a:buNone/>
            </a:pPr>
            <a:r>
              <a:rPr lang="en-US" sz="2200" dirty="0">
                <a:solidFill>
                  <a:schemeClr val="bg1"/>
                </a:solidFill>
              </a:rPr>
              <a:t>Going once, going twice… </a:t>
            </a:r>
            <a:pPr algn="l" indent="0" marL="0">
              <a:buNone/>
            </a:pPr>
            <a:r>
              <a:rPr lang="en-US" sz="2200" b="1" dirty="0">
                <a:solidFill>
                  <a:schemeClr val="accent1"/>
                </a:solidFill>
              </a:rPr>
              <a:t>SOLD.</a:t>
            </a:r>
            <a:endParaRPr lang="en-US" sz="2200" dirty="0"/>
          </a:p>
          <a:p>
            <a:pPr algn="l" indent="0" marL="0">
              <a:buNone/>
            </a:pPr>
            <a:r>
              <a:rPr lang="en-US" sz="1800" dirty="0">
                <a:solidFill>
                  <a:schemeClr val="bg2"/>
                </a:solidFill>
              </a:rPr>
              <a:t>Every car finds its best buyer, across ACV and Copart.</a:t>
            </a:r>
            <a:endParaRPr lang="en-US" sz="2200" dirty="0"/>
          </a:p>
        </p:txBody>
      </p:sp>
      <p:sp>
        <p:nvSpPr>
          <p:cNvPr id="5" name="Event line"/>
          <p:cNvSpPr txBox="1"/>
          <p:nvPr/>
        </p:nvSpPr>
        <p:spPr>
          <a:xfrm>
            <a:off x="731520" y="5897880"/>
            <a:ext cx="6949440" cy="365760"/>
          </a:xfrm>
          <a:prstGeom prst="rect">
            <a:avLst/>
          </a:prstGeom>
          <a:noFill/>
          <a:ln/>
        </p:spPr>
        <p:txBody>
          <a:bodyPr wrap="square" lIns="0" tIns="0" rIns="0" bIns="0" rtlCol="0" anchor="ctr"/>
          <a:lstStyle/>
          <a:p>
            <a:pPr indent="0" marL="0">
              <a:buNone/>
            </a:pPr>
            <a:r>
              <a:rPr lang="en-US" sz="1400" dirty="0">
                <a:solidFill>
                  <a:schemeClr val="bg2"/>
                </a:solidFill>
              </a:rPr>
              <a:t>UB AI for Good Hackathon  ·  ACV Auctions + Copart Challenge  ·  October 3, 2026</a:t>
            </a:r>
            <a:endParaRPr lang="en-US" sz="1400" dirty="0"/>
          </a:p>
        </p:txBody>
      </p:sp>
      <p:sp>
        <p:nvSpPr>
          <p:cNvPr id="6" name="Stamp ring"/>
          <p:cNvSpPr/>
          <p:nvPr/>
        </p:nvSpPr>
        <p:spPr>
          <a:xfrm>
            <a:off x="8001000" y="868680"/>
            <a:ext cx="3383280" cy="3383280"/>
          </a:xfrm>
          <a:prstGeom prst="ellipse">
            <a:avLst/>
          </a:prstGeom>
          <a:solidFill>
            <a:schemeClr val="tx1"/>
          </a:solidFill>
          <a:ln w="38100">
            <a:solidFill>
              <a:schemeClr val="accent2"/>
            </a:solidFill>
            <a:prstDash val="solid"/>
          </a:ln>
        </p:spPr>
      </p:sp>
      <p:sp>
        <p:nvSpPr>
          <p:cNvPr id="7" name="Gavel circle"/>
          <p:cNvSpPr/>
          <p:nvPr/>
        </p:nvSpPr>
        <p:spPr>
          <a:xfrm>
            <a:off x="8366760" y="1234440"/>
            <a:ext cx="2651760" cy="2651760"/>
          </a:xfrm>
          <a:prstGeom prst="ellipse">
            <a:avLst/>
          </a:prstGeom>
          <a:solidFill>
            <a:schemeClr val="accent1"/>
          </a:solidFill>
          <a:ln w="12700">
            <a:solidFill>
              <a:schemeClr val="accent1"/>
            </a:solidFill>
            <a:prstDash val="solid"/>
          </a:ln>
        </p:spPr>
      </p:sp>
      <p:pic>
        <p:nvPicPr>
          <p:cNvPr id="8" name="Gavel icon" descr="preencoded.png">    </p:cNvPr>
          <p:cNvPicPr>
            <a:picLocks noChangeAspect="1"/>
          </p:cNvPicPr>
          <p:nvPr/>
        </p:nvPicPr>
        <p:blipFill>
          <a:blip r:embed="rId1"/>
          <a:stretch>
            <a:fillRect/>
          </a:stretch>
        </p:blipFill>
        <p:spPr>
          <a:xfrm>
            <a:off x="9029700" y="1897380"/>
            <a:ext cx="1325880" cy="1325880"/>
          </a:xfrm>
          <a:prstGeom prst="rect">
            <a:avLst/>
          </a:prstGeom>
        </p:spPr>
      </p:pic>
      <p:sp>
        <p:nvSpPr>
          <p:cNvPr id="9" name="Agent Buy circle"/>
          <p:cNvSpPr/>
          <p:nvPr/>
        </p:nvSpPr>
        <p:spPr>
          <a:xfrm>
            <a:off x="7818120" y="4709160"/>
            <a:ext cx="621792" cy="621792"/>
          </a:xfrm>
          <a:prstGeom prst="ellipse">
            <a:avLst/>
          </a:prstGeom>
          <a:solidFill>
            <a:schemeClr val="accent6"/>
          </a:solidFill>
          <a:ln w="12700">
            <a:solidFill>
              <a:schemeClr val="accent6"/>
            </a:solidFill>
            <a:prstDash val="solid"/>
          </a:ln>
        </p:spPr>
      </p:sp>
      <p:pic>
        <p:nvPicPr>
          <p:cNvPr id="10" name="Agent Buy icon" descr="preencoded.png">    </p:cNvPr>
          <p:cNvPicPr>
            <a:picLocks noChangeAspect="1"/>
          </p:cNvPicPr>
          <p:nvPr/>
        </p:nvPicPr>
        <p:blipFill>
          <a:blip r:embed="rId2"/>
          <a:stretch>
            <a:fillRect/>
          </a:stretch>
        </p:blipFill>
        <p:spPr>
          <a:xfrm>
            <a:off x="7973568" y="4864608"/>
            <a:ext cx="310896" cy="310896"/>
          </a:xfrm>
          <a:prstGeom prst="rect">
            <a:avLst/>
          </a:prstGeom>
        </p:spPr>
      </p:pic>
      <p:sp>
        <p:nvSpPr>
          <p:cNvPr id="11" name="Agent Buy label"/>
          <p:cNvSpPr txBox="1"/>
          <p:nvPr/>
        </p:nvSpPr>
        <p:spPr>
          <a:xfrm>
            <a:off x="7543800" y="5394960"/>
            <a:ext cx="1170432" cy="320040"/>
          </a:xfrm>
          <a:prstGeom prst="rect">
            <a:avLst/>
          </a:prstGeom>
          <a:noFill/>
          <a:ln/>
        </p:spPr>
        <p:txBody>
          <a:bodyPr wrap="square" lIns="0" tIns="0" rIns="0" bIns="0" rtlCol="0" anchor="ctr"/>
          <a:lstStyle/>
          <a:p>
            <a:pPr algn="ctr" indent="0" marL="0">
              <a:buNone/>
            </a:pPr>
            <a:r>
              <a:rPr lang="en-US" sz="1300" dirty="0">
                <a:solidFill>
                  <a:schemeClr val="bg1"/>
                </a:solidFill>
              </a:rPr>
              <a:t>Buy</a:t>
            </a:r>
            <a:endParaRPr lang="en-US" sz="1300" dirty="0"/>
          </a:p>
        </p:txBody>
      </p:sp>
      <p:sp>
        <p:nvSpPr>
          <p:cNvPr id="12" name="Agent Sell circle"/>
          <p:cNvSpPr/>
          <p:nvPr/>
        </p:nvSpPr>
        <p:spPr>
          <a:xfrm>
            <a:off x="8869680" y="4709160"/>
            <a:ext cx="621792" cy="621792"/>
          </a:xfrm>
          <a:prstGeom prst="ellipse">
            <a:avLst/>
          </a:prstGeom>
          <a:solidFill>
            <a:schemeClr val="accent6"/>
          </a:solidFill>
          <a:ln w="12700">
            <a:solidFill>
              <a:schemeClr val="accent6"/>
            </a:solidFill>
            <a:prstDash val="solid"/>
          </a:ln>
        </p:spPr>
      </p:sp>
      <p:pic>
        <p:nvPicPr>
          <p:cNvPr id="13" name="Agent Sell icon" descr="preencoded.png">    </p:cNvPr>
          <p:cNvPicPr>
            <a:picLocks noChangeAspect="1"/>
          </p:cNvPicPr>
          <p:nvPr/>
        </p:nvPicPr>
        <p:blipFill>
          <a:blip r:embed="rId3"/>
          <a:stretch>
            <a:fillRect/>
          </a:stretch>
        </p:blipFill>
        <p:spPr>
          <a:xfrm>
            <a:off x="9025128" y="4864608"/>
            <a:ext cx="310896" cy="310896"/>
          </a:xfrm>
          <a:prstGeom prst="rect">
            <a:avLst/>
          </a:prstGeom>
        </p:spPr>
      </p:pic>
      <p:sp>
        <p:nvSpPr>
          <p:cNvPr id="14" name="Agent Sell label"/>
          <p:cNvSpPr txBox="1"/>
          <p:nvPr/>
        </p:nvSpPr>
        <p:spPr>
          <a:xfrm>
            <a:off x="8595360" y="5394960"/>
            <a:ext cx="1170432" cy="320040"/>
          </a:xfrm>
          <a:prstGeom prst="rect">
            <a:avLst/>
          </a:prstGeom>
          <a:noFill/>
          <a:ln/>
        </p:spPr>
        <p:txBody>
          <a:bodyPr wrap="square" lIns="0" tIns="0" rIns="0" bIns="0" rtlCol="0" anchor="ctr"/>
          <a:lstStyle/>
          <a:p>
            <a:pPr algn="ctr" indent="0" marL="0">
              <a:buNone/>
            </a:pPr>
            <a:r>
              <a:rPr lang="en-US" sz="1300" dirty="0">
                <a:solidFill>
                  <a:schemeClr val="bg1"/>
                </a:solidFill>
              </a:rPr>
              <a:t>Sell</a:t>
            </a:r>
            <a:endParaRPr lang="en-US" sz="1300" dirty="0"/>
          </a:p>
        </p:txBody>
      </p:sp>
      <p:sp>
        <p:nvSpPr>
          <p:cNvPr id="15" name="Agent Negotiate circle"/>
          <p:cNvSpPr/>
          <p:nvPr/>
        </p:nvSpPr>
        <p:spPr>
          <a:xfrm>
            <a:off x="9921240" y="4709160"/>
            <a:ext cx="621792" cy="621792"/>
          </a:xfrm>
          <a:prstGeom prst="ellipse">
            <a:avLst/>
          </a:prstGeom>
          <a:solidFill>
            <a:schemeClr val="accent6"/>
          </a:solidFill>
          <a:ln w="12700">
            <a:solidFill>
              <a:schemeClr val="accent6"/>
            </a:solidFill>
            <a:prstDash val="solid"/>
          </a:ln>
        </p:spPr>
      </p:sp>
      <p:pic>
        <p:nvPicPr>
          <p:cNvPr id="16" name="Agent Negotiate icon" descr="preencoded.png">    </p:cNvPr>
          <p:cNvPicPr>
            <a:picLocks noChangeAspect="1"/>
          </p:cNvPicPr>
          <p:nvPr/>
        </p:nvPicPr>
        <p:blipFill>
          <a:blip r:embed="rId4"/>
          <a:stretch>
            <a:fillRect/>
          </a:stretch>
        </p:blipFill>
        <p:spPr>
          <a:xfrm>
            <a:off x="10076688" y="4864608"/>
            <a:ext cx="310896" cy="310896"/>
          </a:xfrm>
          <a:prstGeom prst="rect">
            <a:avLst/>
          </a:prstGeom>
        </p:spPr>
      </p:pic>
      <p:sp>
        <p:nvSpPr>
          <p:cNvPr id="17" name="Agent Negotiate label"/>
          <p:cNvSpPr txBox="1"/>
          <p:nvPr/>
        </p:nvSpPr>
        <p:spPr>
          <a:xfrm>
            <a:off x="9646920" y="5394960"/>
            <a:ext cx="1170432" cy="320040"/>
          </a:xfrm>
          <a:prstGeom prst="rect">
            <a:avLst/>
          </a:prstGeom>
          <a:noFill/>
          <a:ln/>
        </p:spPr>
        <p:txBody>
          <a:bodyPr wrap="square" lIns="0" tIns="0" rIns="0" bIns="0" rtlCol="0" anchor="ctr"/>
          <a:lstStyle/>
          <a:p>
            <a:pPr algn="ctr" indent="0" marL="0">
              <a:buNone/>
            </a:pPr>
            <a:r>
              <a:rPr lang="en-US" sz="1300" dirty="0">
                <a:solidFill>
                  <a:schemeClr val="bg1"/>
                </a:solidFill>
              </a:rPr>
              <a:t>Negotiate</a:t>
            </a:r>
            <a:endParaRPr lang="en-US" sz="1300" dirty="0"/>
          </a:p>
        </p:txBody>
      </p:sp>
      <p:sp>
        <p:nvSpPr>
          <p:cNvPr id="18" name="Agent Fleet circle"/>
          <p:cNvSpPr/>
          <p:nvPr/>
        </p:nvSpPr>
        <p:spPr>
          <a:xfrm>
            <a:off x="10972800" y="4709160"/>
            <a:ext cx="621792" cy="621792"/>
          </a:xfrm>
          <a:prstGeom prst="ellipse">
            <a:avLst/>
          </a:prstGeom>
          <a:solidFill>
            <a:schemeClr val="accent6"/>
          </a:solidFill>
          <a:ln w="12700">
            <a:solidFill>
              <a:schemeClr val="accent6"/>
            </a:solidFill>
            <a:prstDash val="solid"/>
          </a:ln>
        </p:spPr>
      </p:sp>
      <p:pic>
        <p:nvPicPr>
          <p:cNvPr id="19" name="Agent Fleet icon" descr="preencoded.png">    </p:cNvPr>
          <p:cNvPicPr>
            <a:picLocks noChangeAspect="1"/>
          </p:cNvPicPr>
          <p:nvPr/>
        </p:nvPicPr>
        <p:blipFill>
          <a:blip r:embed="rId5"/>
          <a:stretch>
            <a:fillRect/>
          </a:stretch>
        </p:blipFill>
        <p:spPr>
          <a:xfrm>
            <a:off x="11128248" y="4864608"/>
            <a:ext cx="310896" cy="310896"/>
          </a:xfrm>
          <a:prstGeom prst="rect">
            <a:avLst/>
          </a:prstGeom>
        </p:spPr>
      </p:pic>
      <p:sp>
        <p:nvSpPr>
          <p:cNvPr id="20" name="Agent Fleet label"/>
          <p:cNvSpPr txBox="1"/>
          <p:nvPr/>
        </p:nvSpPr>
        <p:spPr>
          <a:xfrm>
            <a:off x="10698480" y="5394960"/>
            <a:ext cx="1170432" cy="320040"/>
          </a:xfrm>
          <a:prstGeom prst="rect">
            <a:avLst/>
          </a:prstGeom>
          <a:noFill/>
          <a:ln/>
        </p:spPr>
        <p:txBody>
          <a:bodyPr wrap="square" lIns="0" tIns="0" rIns="0" bIns="0" rtlCol="0" anchor="ctr"/>
          <a:lstStyle/>
          <a:p>
            <a:pPr algn="ctr" indent="0" marL="0">
              <a:buNone/>
            </a:pPr>
            <a:r>
              <a:rPr lang="en-US" sz="1300" dirty="0">
                <a:solidFill>
                  <a:schemeClr val="bg1"/>
                </a:solidFill>
              </a:rPr>
              <a:t>Fleet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Why cars go unsold, and how we fix it</a:t>
            </a:r>
            <a:endParaRPr lang="en-US" sz="3600" dirty="0"/>
          </a:p>
        </p:txBody>
      </p:sp>
      <p:sp>
        <p:nvSpPr>
          <p:cNvPr id="3" name="Problem label"/>
          <p:cNvSpPr txBox="1"/>
          <p:nvPr/>
        </p:nvSpPr>
        <p:spPr>
          <a:xfrm>
            <a:off x="548640" y="1298448"/>
            <a:ext cx="5410048" cy="292608"/>
          </a:xfrm>
          <a:prstGeom prst="rect">
            <a:avLst/>
          </a:prstGeom>
          <a:noFill/>
          <a:ln/>
        </p:spPr>
        <p:txBody>
          <a:bodyPr wrap="square" lIns="0" tIns="0" rIns="0" bIns="0" rtlCol="0" anchor="ctr"/>
          <a:lstStyle/>
          <a:p>
            <a:pPr indent="0" marL="0">
              <a:buNone/>
            </a:pPr>
            <a:r>
              <a:rPr lang="en-US" sz="1200" b="1" spc="300" kern="0" dirty="0">
                <a:solidFill>
                  <a:schemeClr val="tx2"/>
                </a:solidFill>
              </a:rPr>
              <a:t>THE PROBLEM</a:t>
            </a:r>
            <a:endParaRPr lang="en-US" sz="1200" dirty="0"/>
          </a:p>
        </p:txBody>
      </p:sp>
      <p:sp>
        <p:nvSpPr>
          <p:cNvPr id="4" name="Solution label"/>
          <p:cNvSpPr txBox="1"/>
          <p:nvPr/>
        </p:nvSpPr>
        <p:spPr>
          <a:xfrm>
            <a:off x="6233008" y="1298448"/>
            <a:ext cx="5410048"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OUR SOLUTION</a:t>
            </a:r>
            <a:endParaRPr lang="en-US" sz="1200" dirty="0"/>
          </a:p>
        </p:txBody>
      </p:sp>
      <p:sp>
        <p:nvSpPr>
          <p:cNvPr id="5" name="Situation card"/>
          <p:cNvSpPr/>
          <p:nvPr/>
        </p:nvSpPr>
        <p:spPr>
          <a:xfrm>
            <a:off x="548640" y="1691640"/>
            <a:ext cx="2567864" cy="4526280"/>
          </a:xfrm>
          <a:prstGeom prst="roundRect">
            <a:avLst>
              <a:gd name="adj" fmla="val 4273"/>
            </a:avLst>
          </a:prstGeom>
          <a:solidFill>
            <a:schemeClr val="bg2"/>
          </a:solidFill>
          <a:ln w="12700">
            <a:solidFill>
              <a:schemeClr val="bg2"/>
            </a:solidFill>
            <a:prstDash val="solid"/>
          </a:ln>
          <a:effectLst>
            <a:outerShdw sx="100000" sy="100000" kx="0" ky="0" algn="bl" rotWithShape="0" blurRad="101600" dist="25400" dir="5400000">
              <a:srgbClr val="0F1C2E">
                <a:alpha val="12000"/>
              </a:srgbClr>
            </a:outerShdw>
          </a:effectLst>
        </p:spPr>
      </p:sp>
      <p:sp>
        <p:nvSpPr>
          <p:cNvPr id="6" name="Situation letter circle"/>
          <p:cNvSpPr/>
          <p:nvPr/>
        </p:nvSpPr>
        <p:spPr>
          <a:xfrm>
            <a:off x="777240" y="1920240"/>
            <a:ext cx="566928" cy="566928"/>
          </a:xfrm>
          <a:prstGeom prst="ellipse">
            <a:avLst/>
          </a:prstGeom>
          <a:solidFill>
            <a:schemeClr val="tx1"/>
          </a:solidFill>
          <a:ln w="12700">
            <a:solidFill>
              <a:schemeClr val="tx1"/>
            </a:solidFill>
            <a:prstDash val="solid"/>
          </a:ln>
        </p:spPr>
      </p:sp>
      <p:sp>
        <p:nvSpPr>
          <p:cNvPr id="7" name="Situation letter"/>
          <p:cNvSpPr txBox="1"/>
          <p:nvPr/>
        </p:nvSpPr>
        <p:spPr>
          <a:xfrm>
            <a:off x="777240" y="1920240"/>
            <a:ext cx="566928" cy="566928"/>
          </a:xfrm>
          <a:prstGeom prst="rect">
            <a:avLst/>
          </a:prstGeom>
          <a:noFill/>
          <a:ln/>
        </p:spPr>
        <p:txBody>
          <a:bodyPr wrap="square" lIns="0" tIns="0" rIns="0" bIns="0" rtlCol="0" anchor="ctr"/>
          <a:lstStyle/>
          <a:p>
            <a:pPr algn="ctr" indent="0" marL="0">
              <a:buNone/>
            </a:pPr>
            <a:r>
              <a:rPr lang="en-US" sz="2200" b="1" dirty="0">
                <a:solidFill>
                  <a:schemeClr val="bg1"/>
                </a:solidFill>
              </a:rPr>
              <a:t>S</a:t>
            </a:r>
            <a:endParaRPr lang="en-US" sz="2200" dirty="0"/>
          </a:p>
        </p:txBody>
      </p:sp>
      <p:sp>
        <p:nvSpPr>
          <p:cNvPr id="8" name="Situation heading"/>
          <p:cNvSpPr txBox="1"/>
          <p:nvPr/>
        </p:nvSpPr>
        <p:spPr>
          <a:xfrm>
            <a:off x="1463040" y="1920240"/>
            <a:ext cx="1562024" cy="566928"/>
          </a:xfrm>
          <a:prstGeom prst="rect">
            <a:avLst/>
          </a:prstGeom>
          <a:noFill/>
          <a:ln/>
        </p:spPr>
        <p:txBody>
          <a:bodyPr wrap="square" lIns="0" tIns="0" rIns="0" bIns="0" rtlCol="0" anchor="ctr"/>
          <a:lstStyle/>
          <a:p>
            <a:pPr indent="0" marL="0">
              <a:buNone/>
            </a:pPr>
            <a:r>
              <a:rPr lang="en-US" sz="2000" b="1" dirty="0">
                <a:solidFill>
                  <a:schemeClr val="tx1"/>
                </a:solidFill>
              </a:rPr>
              <a:t>Situation</a:t>
            </a:r>
            <a:endParaRPr lang="en-US" sz="2000" dirty="0"/>
          </a:p>
        </p:txBody>
      </p:sp>
      <p:sp>
        <p:nvSpPr>
          <p:cNvPr id="9" name="Task card"/>
          <p:cNvSpPr/>
          <p:nvPr/>
        </p:nvSpPr>
        <p:spPr>
          <a:xfrm>
            <a:off x="3390824" y="1691640"/>
            <a:ext cx="2567864" cy="4526280"/>
          </a:xfrm>
          <a:prstGeom prst="roundRect">
            <a:avLst>
              <a:gd name="adj" fmla="val 4273"/>
            </a:avLst>
          </a:prstGeom>
          <a:solidFill>
            <a:schemeClr val="bg2"/>
          </a:solidFill>
          <a:ln w="12700">
            <a:solidFill>
              <a:schemeClr val="bg2"/>
            </a:solidFill>
            <a:prstDash val="solid"/>
          </a:ln>
          <a:effectLst>
            <a:outerShdw sx="100000" sy="100000" kx="0" ky="0" algn="bl" rotWithShape="0" blurRad="101600" dist="25400" dir="5400000">
              <a:srgbClr val="0F1C2E">
                <a:alpha val="12000"/>
              </a:srgbClr>
            </a:outerShdw>
          </a:effectLst>
        </p:spPr>
      </p:sp>
      <p:sp>
        <p:nvSpPr>
          <p:cNvPr id="10" name="Task letter circle"/>
          <p:cNvSpPr/>
          <p:nvPr/>
        </p:nvSpPr>
        <p:spPr>
          <a:xfrm>
            <a:off x="3619424" y="1920240"/>
            <a:ext cx="566928" cy="566928"/>
          </a:xfrm>
          <a:prstGeom prst="ellipse">
            <a:avLst/>
          </a:prstGeom>
          <a:solidFill>
            <a:schemeClr val="tx1"/>
          </a:solidFill>
          <a:ln w="12700">
            <a:solidFill>
              <a:schemeClr val="tx1"/>
            </a:solidFill>
            <a:prstDash val="solid"/>
          </a:ln>
        </p:spPr>
      </p:sp>
      <p:sp>
        <p:nvSpPr>
          <p:cNvPr id="11" name="Task letter"/>
          <p:cNvSpPr txBox="1"/>
          <p:nvPr/>
        </p:nvSpPr>
        <p:spPr>
          <a:xfrm>
            <a:off x="3619424" y="1920240"/>
            <a:ext cx="566928" cy="566928"/>
          </a:xfrm>
          <a:prstGeom prst="rect">
            <a:avLst/>
          </a:prstGeom>
          <a:noFill/>
          <a:ln/>
        </p:spPr>
        <p:txBody>
          <a:bodyPr wrap="square" lIns="0" tIns="0" rIns="0" bIns="0" rtlCol="0" anchor="ctr"/>
          <a:lstStyle/>
          <a:p>
            <a:pPr algn="ctr" indent="0" marL="0">
              <a:buNone/>
            </a:pPr>
            <a:r>
              <a:rPr lang="en-US" sz="2200" b="1" dirty="0">
                <a:solidFill>
                  <a:schemeClr val="bg1"/>
                </a:solidFill>
              </a:rPr>
              <a:t>T</a:t>
            </a:r>
            <a:endParaRPr lang="en-US" sz="2200" dirty="0"/>
          </a:p>
        </p:txBody>
      </p:sp>
      <p:sp>
        <p:nvSpPr>
          <p:cNvPr id="12" name="Task heading"/>
          <p:cNvSpPr txBox="1"/>
          <p:nvPr/>
        </p:nvSpPr>
        <p:spPr>
          <a:xfrm>
            <a:off x="4305224" y="1920240"/>
            <a:ext cx="1562024" cy="566928"/>
          </a:xfrm>
          <a:prstGeom prst="rect">
            <a:avLst/>
          </a:prstGeom>
          <a:noFill/>
          <a:ln/>
        </p:spPr>
        <p:txBody>
          <a:bodyPr wrap="square" lIns="0" tIns="0" rIns="0" bIns="0" rtlCol="0" anchor="ctr"/>
          <a:lstStyle/>
          <a:p>
            <a:pPr indent="0" marL="0">
              <a:buNone/>
            </a:pPr>
            <a:r>
              <a:rPr lang="en-US" sz="2000" b="1" dirty="0">
                <a:solidFill>
                  <a:schemeClr val="tx1"/>
                </a:solidFill>
              </a:rPr>
              <a:t>Task</a:t>
            </a:r>
            <a:endParaRPr lang="en-US" sz="2000" dirty="0"/>
          </a:p>
        </p:txBody>
      </p:sp>
      <p:sp>
        <p:nvSpPr>
          <p:cNvPr id="13" name="Action card"/>
          <p:cNvSpPr/>
          <p:nvPr/>
        </p:nvSpPr>
        <p:spPr>
          <a:xfrm>
            <a:off x="6233008" y="1691640"/>
            <a:ext cx="2567864" cy="4526280"/>
          </a:xfrm>
          <a:prstGeom prst="roundRect">
            <a:avLst>
              <a:gd name="adj" fmla="val 4273"/>
            </a:avLst>
          </a:prstGeom>
          <a:solidFill>
            <a:schemeClr val="bg2"/>
          </a:solidFill>
          <a:ln w="12700">
            <a:solidFill>
              <a:schemeClr val="bg2"/>
            </a:solidFill>
            <a:prstDash val="solid"/>
          </a:ln>
          <a:effectLst>
            <a:outerShdw sx="100000" sy="100000" kx="0" ky="0" algn="bl" rotWithShape="0" blurRad="101600" dist="25400" dir="5400000">
              <a:srgbClr val="0F1C2E">
                <a:alpha val="12000"/>
              </a:srgbClr>
            </a:outerShdw>
          </a:effectLst>
        </p:spPr>
      </p:sp>
      <p:sp>
        <p:nvSpPr>
          <p:cNvPr id="14" name="Action letter circle"/>
          <p:cNvSpPr/>
          <p:nvPr/>
        </p:nvSpPr>
        <p:spPr>
          <a:xfrm>
            <a:off x="6461608" y="1920240"/>
            <a:ext cx="566928" cy="566928"/>
          </a:xfrm>
          <a:prstGeom prst="ellipse">
            <a:avLst/>
          </a:prstGeom>
          <a:solidFill>
            <a:schemeClr val="accent1"/>
          </a:solidFill>
          <a:ln w="12700">
            <a:solidFill>
              <a:schemeClr val="accent1"/>
            </a:solidFill>
            <a:prstDash val="solid"/>
          </a:ln>
        </p:spPr>
      </p:sp>
      <p:sp>
        <p:nvSpPr>
          <p:cNvPr id="15" name="Action letter"/>
          <p:cNvSpPr txBox="1"/>
          <p:nvPr/>
        </p:nvSpPr>
        <p:spPr>
          <a:xfrm>
            <a:off x="6461608" y="1920240"/>
            <a:ext cx="566928" cy="566928"/>
          </a:xfrm>
          <a:prstGeom prst="rect">
            <a:avLst/>
          </a:prstGeom>
          <a:noFill/>
          <a:ln/>
        </p:spPr>
        <p:txBody>
          <a:bodyPr wrap="square" lIns="0" tIns="0" rIns="0" bIns="0" rtlCol="0" anchor="ctr"/>
          <a:lstStyle/>
          <a:p>
            <a:pPr algn="ctr" indent="0" marL="0">
              <a:buNone/>
            </a:pPr>
            <a:r>
              <a:rPr lang="en-US" sz="2200" b="1" dirty="0">
                <a:solidFill>
                  <a:schemeClr val="bg1"/>
                </a:solidFill>
              </a:rPr>
              <a:t>A</a:t>
            </a:r>
            <a:endParaRPr lang="en-US" sz="2200" dirty="0"/>
          </a:p>
        </p:txBody>
      </p:sp>
      <p:sp>
        <p:nvSpPr>
          <p:cNvPr id="16" name="Action heading"/>
          <p:cNvSpPr txBox="1"/>
          <p:nvPr/>
        </p:nvSpPr>
        <p:spPr>
          <a:xfrm>
            <a:off x="7147408" y="1920240"/>
            <a:ext cx="1562024" cy="566928"/>
          </a:xfrm>
          <a:prstGeom prst="rect">
            <a:avLst/>
          </a:prstGeom>
          <a:noFill/>
          <a:ln/>
        </p:spPr>
        <p:txBody>
          <a:bodyPr wrap="square" lIns="0" tIns="0" rIns="0" bIns="0" rtlCol="0" anchor="ctr"/>
          <a:lstStyle/>
          <a:p>
            <a:pPr indent="0" marL="0">
              <a:buNone/>
            </a:pPr>
            <a:r>
              <a:rPr lang="en-US" sz="2000" b="1" dirty="0">
                <a:solidFill>
                  <a:schemeClr val="tx1"/>
                </a:solidFill>
              </a:rPr>
              <a:t>Action</a:t>
            </a:r>
            <a:endParaRPr lang="en-US" sz="2000" dirty="0"/>
          </a:p>
        </p:txBody>
      </p:sp>
      <p:sp>
        <p:nvSpPr>
          <p:cNvPr id="17" name="Result card"/>
          <p:cNvSpPr/>
          <p:nvPr/>
        </p:nvSpPr>
        <p:spPr>
          <a:xfrm>
            <a:off x="9075191" y="1691640"/>
            <a:ext cx="2567864" cy="4526280"/>
          </a:xfrm>
          <a:prstGeom prst="roundRect">
            <a:avLst>
              <a:gd name="adj" fmla="val 4273"/>
            </a:avLst>
          </a:prstGeom>
          <a:solidFill>
            <a:schemeClr val="bg2"/>
          </a:solidFill>
          <a:ln w="12700">
            <a:solidFill>
              <a:schemeClr val="bg2"/>
            </a:solidFill>
            <a:prstDash val="solid"/>
          </a:ln>
          <a:effectLst>
            <a:outerShdw sx="100000" sy="100000" kx="0" ky="0" algn="bl" rotWithShape="0" blurRad="101600" dist="25400" dir="5400000">
              <a:srgbClr val="0F1C2E">
                <a:alpha val="12000"/>
              </a:srgbClr>
            </a:outerShdw>
          </a:effectLst>
        </p:spPr>
      </p:sp>
      <p:sp>
        <p:nvSpPr>
          <p:cNvPr id="18" name="Result letter circle"/>
          <p:cNvSpPr/>
          <p:nvPr/>
        </p:nvSpPr>
        <p:spPr>
          <a:xfrm>
            <a:off x="9303791" y="1920240"/>
            <a:ext cx="566928" cy="566928"/>
          </a:xfrm>
          <a:prstGeom prst="ellipse">
            <a:avLst/>
          </a:prstGeom>
          <a:solidFill>
            <a:schemeClr val="accent1"/>
          </a:solidFill>
          <a:ln w="12700">
            <a:solidFill>
              <a:schemeClr val="accent1"/>
            </a:solidFill>
            <a:prstDash val="solid"/>
          </a:ln>
        </p:spPr>
      </p:sp>
      <p:sp>
        <p:nvSpPr>
          <p:cNvPr id="19" name="Result letter"/>
          <p:cNvSpPr txBox="1"/>
          <p:nvPr/>
        </p:nvSpPr>
        <p:spPr>
          <a:xfrm>
            <a:off x="9303791" y="1920240"/>
            <a:ext cx="566928" cy="566928"/>
          </a:xfrm>
          <a:prstGeom prst="rect">
            <a:avLst/>
          </a:prstGeom>
          <a:noFill/>
          <a:ln/>
        </p:spPr>
        <p:txBody>
          <a:bodyPr wrap="square" lIns="0" tIns="0" rIns="0" bIns="0" rtlCol="0" anchor="ctr"/>
          <a:lstStyle/>
          <a:p>
            <a:pPr algn="ctr" indent="0" marL="0">
              <a:buNone/>
            </a:pPr>
            <a:r>
              <a:rPr lang="en-US" sz="2200" b="1" dirty="0">
                <a:solidFill>
                  <a:schemeClr val="bg1"/>
                </a:solidFill>
              </a:rPr>
              <a:t>R</a:t>
            </a:r>
            <a:endParaRPr lang="en-US" sz="2200" dirty="0"/>
          </a:p>
        </p:txBody>
      </p:sp>
      <p:sp>
        <p:nvSpPr>
          <p:cNvPr id="20" name="Result heading"/>
          <p:cNvSpPr txBox="1"/>
          <p:nvPr/>
        </p:nvSpPr>
        <p:spPr>
          <a:xfrm>
            <a:off x="9989591" y="1920240"/>
            <a:ext cx="1562024" cy="566928"/>
          </a:xfrm>
          <a:prstGeom prst="rect">
            <a:avLst/>
          </a:prstGeom>
          <a:noFill/>
          <a:ln/>
        </p:spPr>
        <p:txBody>
          <a:bodyPr wrap="square" lIns="0" tIns="0" rIns="0" bIns="0" rtlCol="0" anchor="ctr"/>
          <a:lstStyle/>
          <a:p>
            <a:pPr indent="0" marL="0">
              <a:buNone/>
            </a:pPr>
            <a:r>
              <a:rPr lang="en-US" sz="2000" b="1" dirty="0">
                <a:solidFill>
                  <a:schemeClr val="tx1"/>
                </a:solidFill>
              </a:rPr>
              <a:t>Result</a:t>
            </a:r>
            <a:endParaRPr lang="en-US" sz="2000" dirty="0"/>
          </a:p>
        </p:txBody>
      </p:sp>
      <p:sp>
        <p:nvSpPr>
          <p:cNvPr id="21" name="Situation text"/>
          <p:cNvSpPr txBox="1"/>
          <p:nvPr/>
        </p:nvSpPr>
        <p:spPr>
          <a:xfrm>
            <a:off x="777240" y="2697480"/>
            <a:ext cx="2110664" cy="33375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ACV runs 20-minute dealer auctions. Copart sells damaged cars worldwide. They are becoming one company.</a:t>
            </a:r>
            <a:endParaRPr lang="en-US" sz="1400" dirty="0"/>
          </a:p>
          <a:p>
            <a:pPr marL="177800" indent="-177800">
              <a:spcAft>
                <a:spcPts val="800"/>
              </a:spcAft>
              <a:buSzPct val="100000"/>
              <a:buChar char="•"/>
            </a:pPr>
            <a:r>
              <a:rPr lang="en-US" sz="1400" dirty="0">
                <a:solidFill>
                  <a:schemeClr val="tx1"/>
                </a:solidFill>
              </a:rPr>
              <a:t>Cars still go unsold: the right buyer misses the auction, prices don't meet, hidden damage scares buyers.</a:t>
            </a:r>
            <a:endParaRPr lang="en-US" sz="1400" dirty="0"/>
          </a:p>
          <a:p>
            <a:pPr marL="177800" indent="-177800">
              <a:spcAft>
                <a:spcPts val="800"/>
              </a:spcAft>
              <a:buSzPct val="100000"/>
              <a:buChar char="•"/>
            </a:pPr>
            <a:r>
              <a:rPr lang="en-US" sz="1400" dirty="0">
                <a:solidFill>
                  <a:schemeClr val="tx1"/>
                </a:solidFill>
              </a:rPr>
              <a:t>ACV only earns when a car sells.</a:t>
            </a:r>
            <a:endParaRPr lang="en-US" sz="1400" dirty="0"/>
          </a:p>
        </p:txBody>
      </p:sp>
      <p:sp>
        <p:nvSpPr>
          <p:cNvPr id="22" name="Task text"/>
          <p:cNvSpPr txBox="1"/>
          <p:nvPr/>
        </p:nvSpPr>
        <p:spPr>
          <a:xfrm>
            <a:off x="3619424" y="2697480"/>
            <a:ext cx="2110664" cy="33375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Turn more listings into sales across both companies.</a:t>
            </a:r>
            <a:endParaRPr lang="en-US" sz="1400" dirty="0"/>
          </a:p>
          <a:p>
            <a:pPr marL="177800" indent="-177800">
              <a:spcAft>
                <a:spcPts val="800"/>
              </a:spcAft>
              <a:buSzPct val="100000"/>
              <a:buChar char="•"/>
            </a:pPr>
            <a:r>
              <a:rPr lang="en-US" sz="1400" dirty="0">
                <a:solidFill>
                  <a:schemeClr val="tx1"/>
                </a:solidFill>
              </a:rPr>
              <a:t>Catch hidden damage before anyone buys.</a:t>
            </a:r>
            <a:endParaRPr lang="en-US" sz="1400" dirty="0"/>
          </a:p>
          <a:p>
            <a:pPr marL="177800" indent="-177800">
              <a:spcAft>
                <a:spcPts val="800"/>
              </a:spcAft>
              <a:buSzPct val="100000"/>
              <a:buChar char="•"/>
            </a:pPr>
            <a:r>
              <a:rPr lang="en-US" sz="1400" dirty="0">
                <a:solidFill>
                  <a:schemeClr val="tx1"/>
                </a:solidFill>
              </a:rPr>
              <a:t>Move cars at the lowest cost, so the combined company earns at every stage of a car's life.</a:t>
            </a:r>
            <a:endParaRPr lang="en-US" sz="1400" dirty="0"/>
          </a:p>
        </p:txBody>
      </p:sp>
      <p:sp>
        <p:nvSpPr>
          <p:cNvPr id="23" name="Action intro"/>
          <p:cNvSpPr txBox="1"/>
          <p:nvPr/>
        </p:nvSpPr>
        <p:spPr>
          <a:xfrm>
            <a:off x="6461608" y="2697480"/>
            <a:ext cx="2110664" cy="502920"/>
          </a:xfrm>
          <a:prstGeom prst="rect">
            <a:avLst/>
          </a:prstGeom>
          <a:noFill/>
          <a:ln/>
        </p:spPr>
        <p:txBody>
          <a:bodyPr wrap="square" lIns="0" tIns="0" rIns="0" bIns="0" rtlCol="0" anchor="t"/>
          <a:lstStyle/>
          <a:p>
            <a:pPr indent="0" marL="0">
              <a:buNone/>
            </a:pPr>
            <a:r>
              <a:rPr lang="en-US" sz="1400" i="1" dirty="0">
                <a:solidFill>
                  <a:schemeClr val="tx2"/>
                </a:solidFill>
              </a:rPr>
              <a:t>4 AI agents do the work. People approve.</a:t>
            </a:r>
            <a:endParaRPr lang="en-US" sz="1400" dirty="0"/>
          </a:p>
        </p:txBody>
      </p:sp>
      <p:pic>
        <p:nvPicPr>
          <p:cNvPr id="24" name="Action Buy icon" descr="preencoded.png">    </p:cNvPr>
          <p:cNvPicPr>
            <a:picLocks noChangeAspect="1"/>
          </p:cNvPicPr>
          <p:nvPr/>
        </p:nvPicPr>
        <p:blipFill>
          <a:blip r:embed="rId1"/>
          <a:stretch>
            <a:fillRect/>
          </a:stretch>
        </p:blipFill>
        <p:spPr>
          <a:xfrm>
            <a:off x="6461608" y="3355848"/>
            <a:ext cx="274320" cy="274320"/>
          </a:xfrm>
          <a:prstGeom prst="rect">
            <a:avLst/>
          </a:prstGeom>
        </p:spPr>
      </p:pic>
      <p:sp>
        <p:nvSpPr>
          <p:cNvPr id="25" name="Action Buy text"/>
          <p:cNvSpPr txBox="1"/>
          <p:nvPr/>
        </p:nvSpPr>
        <p:spPr>
          <a:xfrm>
            <a:off x="6845656" y="3319272"/>
            <a:ext cx="1726616" cy="566928"/>
          </a:xfrm>
          <a:prstGeom prst="rect">
            <a:avLst/>
          </a:prstGeom>
          <a:noFill/>
          <a:ln/>
        </p:spPr>
        <p:txBody>
          <a:bodyPr wrap="square" lIns="0" tIns="0" rIns="0" bIns="0" rtlCol="0" anchor="t"/>
          <a:lstStyle/>
          <a:p>
            <a:pPr indent="0" marL="0">
              <a:buNone/>
            </a:pPr>
            <a:r>
              <a:rPr lang="en-US" sz="1400" b="1" dirty="0">
                <a:solidFill>
                  <a:schemeClr val="tx1"/>
                </a:solidFill>
              </a:rPr>
              <a:t>Buy: </a:t>
            </a:r>
            <a:pPr indent="0" marL="0">
              <a:buNone/>
            </a:pPr>
            <a:r>
              <a:rPr lang="en-US" sz="1400" dirty="0">
                <a:solidFill>
                  <a:schemeClr val="tx1"/>
                </a:solidFill>
              </a:rPr>
              <a:t>finds cars, checks history</a:t>
            </a:r>
            <a:endParaRPr lang="en-US" sz="1400" dirty="0"/>
          </a:p>
        </p:txBody>
      </p:sp>
      <p:pic>
        <p:nvPicPr>
          <p:cNvPr id="26" name="Action Sell icon" descr="preencoded.png">    </p:cNvPr>
          <p:cNvPicPr>
            <a:picLocks noChangeAspect="1"/>
          </p:cNvPicPr>
          <p:nvPr/>
        </p:nvPicPr>
        <p:blipFill>
          <a:blip r:embed="rId2"/>
          <a:stretch>
            <a:fillRect/>
          </a:stretch>
        </p:blipFill>
        <p:spPr>
          <a:xfrm>
            <a:off x="6461608" y="4123944"/>
            <a:ext cx="274320" cy="274320"/>
          </a:xfrm>
          <a:prstGeom prst="rect">
            <a:avLst/>
          </a:prstGeom>
        </p:spPr>
      </p:pic>
      <p:sp>
        <p:nvSpPr>
          <p:cNvPr id="27" name="Action Sell text"/>
          <p:cNvSpPr txBox="1"/>
          <p:nvPr/>
        </p:nvSpPr>
        <p:spPr>
          <a:xfrm>
            <a:off x="6845656" y="4087368"/>
            <a:ext cx="1726616" cy="566928"/>
          </a:xfrm>
          <a:prstGeom prst="rect">
            <a:avLst/>
          </a:prstGeom>
          <a:noFill/>
          <a:ln/>
        </p:spPr>
        <p:txBody>
          <a:bodyPr wrap="square" lIns="0" tIns="0" rIns="0" bIns="0" rtlCol="0" anchor="t"/>
          <a:lstStyle/>
          <a:p>
            <a:pPr indent="0" marL="0">
              <a:buNone/>
            </a:pPr>
            <a:r>
              <a:rPr lang="en-US" sz="1400" b="1" dirty="0">
                <a:solidFill>
                  <a:schemeClr val="tx1"/>
                </a:solidFill>
              </a:rPr>
              <a:t>Sell: </a:t>
            </a:r>
            <a:pPr indent="0" marL="0">
              <a:buNone/>
            </a:pPr>
            <a:r>
              <a:rPr lang="en-US" sz="1400" dirty="0">
                <a:solidFill>
                  <a:schemeClr val="tx1"/>
                </a:solidFill>
              </a:rPr>
              <a:t>photo report, waiting buyers</a:t>
            </a:r>
            <a:endParaRPr lang="en-US" sz="1400" dirty="0"/>
          </a:p>
        </p:txBody>
      </p:sp>
      <p:pic>
        <p:nvPicPr>
          <p:cNvPr id="28" name="Action Negotiate icon" descr="preencoded.png">    </p:cNvPr>
          <p:cNvPicPr>
            <a:picLocks noChangeAspect="1"/>
          </p:cNvPicPr>
          <p:nvPr/>
        </p:nvPicPr>
        <p:blipFill>
          <a:blip r:embed="rId3"/>
          <a:stretch>
            <a:fillRect/>
          </a:stretch>
        </p:blipFill>
        <p:spPr>
          <a:xfrm>
            <a:off x="6461608" y="4892040"/>
            <a:ext cx="274320" cy="274320"/>
          </a:xfrm>
          <a:prstGeom prst="rect">
            <a:avLst/>
          </a:prstGeom>
        </p:spPr>
      </p:pic>
      <p:sp>
        <p:nvSpPr>
          <p:cNvPr id="29" name="Action Negotiate text"/>
          <p:cNvSpPr txBox="1"/>
          <p:nvPr/>
        </p:nvSpPr>
        <p:spPr>
          <a:xfrm>
            <a:off x="6845656" y="4855464"/>
            <a:ext cx="1726616" cy="566928"/>
          </a:xfrm>
          <a:prstGeom prst="rect">
            <a:avLst/>
          </a:prstGeom>
          <a:noFill/>
          <a:ln/>
        </p:spPr>
        <p:txBody>
          <a:bodyPr wrap="square" lIns="0" tIns="0" rIns="0" bIns="0" rtlCol="0" anchor="t"/>
          <a:lstStyle/>
          <a:p>
            <a:pPr indent="0" marL="0">
              <a:buNone/>
            </a:pPr>
            <a:r>
              <a:rPr lang="en-US" sz="1400" b="1" dirty="0">
                <a:solidFill>
                  <a:schemeClr val="tx1"/>
                </a:solidFill>
              </a:rPr>
              <a:t>Negotiate: </a:t>
            </a:r>
            <a:pPr indent="0" marL="0">
              <a:buNone/>
            </a:pPr>
            <a:r>
              <a:rPr lang="en-US" sz="1400" dirty="0">
                <a:solidFill>
                  <a:schemeClr val="tx1"/>
                </a:solidFill>
              </a:rPr>
              <a:t>closes the gap, pays, ships</a:t>
            </a:r>
            <a:endParaRPr lang="en-US" sz="1400" dirty="0"/>
          </a:p>
        </p:txBody>
      </p:sp>
      <p:pic>
        <p:nvPicPr>
          <p:cNvPr id="30" name="Action Fleet icon" descr="preencoded.png">    </p:cNvPr>
          <p:cNvPicPr>
            <a:picLocks noChangeAspect="1"/>
          </p:cNvPicPr>
          <p:nvPr/>
        </p:nvPicPr>
        <p:blipFill>
          <a:blip r:embed="rId4"/>
          <a:stretch>
            <a:fillRect/>
          </a:stretch>
        </p:blipFill>
        <p:spPr>
          <a:xfrm>
            <a:off x="6461608" y="5660136"/>
            <a:ext cx="274320" cy="274320"/>
          </a:xfrm>
          <a:prstGeom prst="rect">
            <a:avLst/>
          </a:prstGeom>
        </p:spPr>
      </p:pic>
      <p:sp>
        <p:nvSpPr>
          <p:cNvPr id="31" name="Action Fleet text"/>
          <p:cNvSpPr txBox="1"/>
          <p:nvPr/>
        </p:nvSpPr>
        <p:spPr>
          <a:xfrm>
            <a:off x="6845656" y="5623560"/>
            <a:ext cx="1726616" cy="566928"/>
          </a:xfrm>
          <a:prstGeom prst="rect">
            <a:avLst/>
          </a:prstGeom>
          <a:noFill/>
          <a:ln/>
        </p:spPr>
        <p:txBody>
          <a:bodyPr wrap="square" lIns="0" tIns="0" rIns="0" bIns="0" rtlCol="0" anchor="t"/>
          <a:lstStyle/>
          <a:p>
            <a:pPr indent="0" marL="0">
              <a:buNone/>
            </a:pPr>
            <a:r>
              <a:rPr lang="en-US" sz="1400" b="1" dirty="0">
                <a:solidFill>
                  <a:schemeClr val="tx1"/>
                </a:solidFill>
              </a:rPr>
              <a:t>Fleet: </a:t>
            </a:r>
            <a:pPr indent="0" marL="0">
              <a:buNone/>
            </a:pPr>
            <a:r>
              <a:rPr lang="en-US" sz="1400" dirty="0">
                <a:solidFill>
                  <a:schemeClr val="tx1"/>
                </a:solidFill>
              </a:rPr>
              <a:t>full trucks, prices hold</a:t>
            </a:r>
            <a:endParaRPr lang="en-US" sz="1400" dirty="0"/>
          </a:p>
        </p:txBody>
      </p:sp>
      <p:sp>
        <p:nvSpPr>
          <p:cNvPr id="32" name="Result intro"/>
          <p:cNvSpPr txBox="1"/>
          <p:nvPr/>
        </p:nvSpPr>
        <p:spPr>
          <a:xfrm>
            <a:off x="9303791" y="2697480"/>
            <a:ext cx="2110664" cy="292608"/>
          </a:xfrm>
          <a:prstGeom prst="rect">
            <a:avLst/>
          </a:prstGeom>
          <a:noFill/>
          <a:ln/>
        </p:spPr>
        <p:txBody>
          <a:bodyPr wrap="square" lIns="0" tIns="0" rIns="0" bIns="0" rtlCol="0" anchor="ctr"/>
          <a:lstStyle/>
          <a:p>
            <a:pPr indent="0" marL="0">
              <a:buNone/>
            </a:pPr>
            <a:r>
              <a:rPr lang="en-US" sz="1400" i="1" dirty="0">
                <a:solidFill>
                  <a:schemeClr val="tx2"/>
                </a:solidFill>
              </a:rPr>
              <a:t>In our demo:</a:t>
            </a:r>
            <a:endParaRPr lang="en-US" sz="1400" dirty="0"/>
          </a:p>
        </p:txBody>
      </p:sp>
      <p:sp>
        <p:nvSpPr>
          <p:cNvPr id="33" name="Result 1 number"/>
          <p:cNvSpPr txBox="1"/>
          <p:nvPr/>
        </p:nvSpPr>
        <p:spPr>
          <a:xfrm>
            <a:off x="9303791" y="3108960"/>
            <a:ext cx="2110664" cy="384048"/>
          </a:xfrm>
          <a:prstGeom prst="rect">
            <a:avLst/>
          </a:prstGeom>
          <a:noFill/>
          <a:ln/>
        </p:spPr>
        <p:txBody>
          <a:bodyPr wrap="square" lIns="0" tIns="0" rIns="0" bIns="0" rtlCol="0" anchor="ctr"/>
          <a:lstStyle/>
          <a:p>
            <a:pPr indent="0" marL="0">
              <a:buNone/>
            </a:pPr>
            <a:r>
              <a:rPr lang="en-US" sz="2400" b="1" dirty="0">
                <a:solidFill>
                  <a:schemeClr val="accent1"/>
                </a:solidFill>
                <a:latin typeface="+mj-lt" pitchFamily="34" charset="0"/>
                <a:ea typeface="+mj-lt" pitchFamily="34" charset="-122"/>
                <a:cs typeface="+mj-lt" pitchFamily="34" charset="-120"/>
              </a:rPr>
              <a:t>1</a:t>
            </a:r>
            <a:endParaRPr lang="en-US" sz="2400" dirty="0"/>
          </a:p>
        </p:txBody>
      </p:sp>
      <p:sp>
        <p:nvSpPr>
          <p:cNvPr id="34" name="Result 1 caption"/>
          <p:cNvSpPr txBox="1"/>
          <p:nvPr/>
        </p:nvSpPr>
        <p:spPr>
          <a:xfrm>
            <a:off x="9303791" y="3493008"/>
            <a:ext cx="2110664" cy="274320"/>
          </a:xfrm>
          <a:prstGeom prst="rect">
            <a:avLst/>
          </a:prstGeom>
          <a:noFill/>
          <a:ln/>
        </p:spPr>
        <p:txBody>
          <a:bodyPr wrap="square" lIns="0" tIns="0" rIns="0" bIns="0" rtlCol="0" anchor="ctr"/>
          <a:lstStyle/>
          <a:p>
            <a:pPr indent="0" marL="0">
              <a:buNone/>
            </a:pPr>
            <a:r>
              <a:rPr lang="en-US" sz="1200" dirty="0">
                <a:solidFill>
                  <a:schemeClr val="tx1"/>
                </a:solidFill>
              </a:rPr>
              <a:t>flood car caught before purchase</a:t>
            </a:r>
            <a:endParaRPr lang="en-US" sz="1200" dirty="0"/>
          </a:p>
        </p:txBody>
      </p:sp>
      <p:sp>
        <p:nvSpPr>
          <p:cNvPr id="35" name="Result 2 number"/>
          <p:cNvSpPr txBox="1"/>
          <p:nvPr/>
        </p:nvSpPr>
        <p:spPr>
          <a:xfrm>
            <a:off x="9303791" y="3877056"/>
            <a:ext cx="2110664" cy="384048"/>
          </a:xfrm>
          <a:prstGeom prst="rect">
            <a:avLst/>
          </a:prstGeom>
          <a:noFill/>
          <a:ln/>
        </p:spPr>
        <p:txBody>
          <a:bodyPr wrap="square" lIns="0" tIns="0" rIns="0" bIns="0" rtlCol="0" anchor="ctr"/>
          <a:lstStyle/>
          <a:p>
            <a:pPr indent="0" marL="0">
              <a:buNone/>
            </a:pPr>
            <a:r>
              <a:rPr lang="en-US" sz="2400" b="1" dirty="0">
                <a:solidFill>
                  <a:schemeClr val="accent1"/>
                </a:solidFill>
                <a:latin typeface="+mj-lt" pitchFamily="34" charset="0"/>
                <a:ea typeface="+mj-lt" pitchFamily="34" charset="-122"/>
                <a:cs typeface="+mj-lt" pitchFamily="34" charset="-120"/>
              </a:rPr>
              <a:t>3</a:t>
            </a:r>
            <a:endParaRPr lang="en-US" sz="2400" dirty="0"/>
          </a:p>
        </p:txBody>
      </p:sp>
      <p:sp>
        <p:nvSpPr>
          <p:cNvPr id="36" name="Result 2 caption"/>
          <p:cNvSpPr txBox="1"/>
          <p:nvPr/>
        </p:nvSpPr>
        <p:spPr>
          <a:xfrm>
            <a:off x="9303791" y="4261104"/>
            <a:ext cx="2110664" cy="274320"/>
          </a:xfrm>
          <a:prstGeom prst="rect">
            <a:avLst/>
          </a:prstGeom>
          <a:noFill/>
          <a:ln/>
        </p:spPr>
        <p:txBody>
          <a:bodyPr wrap="square" lIns="0" tIns="0" rIns="0" bIns="0" rtlCol="0" anchor="ctr"/>
          <a:lstStyle/>
          <a:p>
            <a:pPr indent="0" marL="0">
              <a:buNone/>
            </a:pPr>
            <a:r>
              <a:rPr lang="en-US" sz="1200" dirty="0">
                <a:solidFill>
                  <a:schemeClr val="tx1"/>
                </a:solidFill>
              </a:rPr>
              <a:t>buyers waiting before the auction</a:t>
            </a:r>
            <a:endParaRPr lang="en-US" sz="1200" dirty="0"/>
          </a:p>
        </p:txBody>
      </p:sp>
      <p:sp>
        <p:nvSpPr>
          <p:cNvPr id="37" name="Result 3 number"/>
          <p:cNvSpPr txBox="1"/>
          <p:nvPr/>
        </p:nvSpPr>
        <p:spPr>
          <a:xfrm>
            <a:off x="9303791" y="4645152"/>
            <a:ext cx="2110664" cy="384048"/>
          </a:xfrm>
          <a:prstGeom prst="rect">
            <a:avLst/>
          </a:prstGeom>
          <a:noFill/>
          <a:ln/>
        </p:spPr>
        <p:txBody>
          <a:bodyPr wrap="square" lIns="0" tIns="0" rIns="0" bIns="0" rtlCol="0" anchor="ctr"/>
          <a:lstStyle/>
          <a:p>
            <a:pPr indent="0" marL="0">
              <a:buNone/>
            </a:pPr>
            <a:r>
              <a:rPr lang="en-US" sz="2400" b="1" dirty="0">
                <a:solidFill>
                  <a:schemeClr val="accent1"/>
                </a:solidFill>
                <a:latin typeface="+mj-lt" pitchFamily="34" charset="0"/>
                <a:ea typeface="+mj-lt" pitchFamily="34" charset="-122"/>
                <a:cs typeface="+mj-lt" pitchFamily="34" charset="-120"/>
              </a:rPr>
              <a:t>$13,150</a:t>
            </a:r>
            <a:endParaRPr lang="en-US" sz="2400" dirty="0"/>
          </a:p>
        </p:txBody>
      </p:sp>
      <p:sp>
        <p:nvSpPr>
          <p:cNvPr id="38" name="Result 3 caption"/>
          <p:cNvSpPr txBox="1"/>
          <p:nvPr/>
        </p:nvSpPr>
        <p:spPr>
          <a:xfrm>
            <a:off x="9303791" y="5029200"/>
            <a:ext cx="2110664" cy="274320"/>
          </a:xfrm>
          <a:prstGeom prst="rect">
            <a:avLst/>
          </a:prstGeom>
          <a:noFill/>
          <a:ln/>
        </p:spPr>
        <p:txBody>
          <a:bodyPr wrap="square" lIns="0" tIns="0" rIns="0" bIns="0" rtlCol="0" anchor="ctr"/>
          <a:lstStyle/>
          <a:p>
            <a:pPr indent="0" marL="0">
              <a:buNone/>
            </a:pPr>
            <a:r>
              <a:rPr lang="en-US" sz="1200" dirty="0">
                <a:solidFill>
                  <a:schemeClr val="tx1"/>
                </a:solidFill>
              </a:rPr>
              <a:t>deal closed from a $3,000 gap</a:t>
            </a:r>
            <a:endParaRPr lang="en-US" sz="1200" dirty="0"/>
          </a:p>
        </p:txBody>
      </p:sp>
      <p:sp>
        <p:nvSpPr>
          <p:cNvPr id="39" name="Result 4 number"/>
          <p:cNvSpPr txBox="1"/>
          <p:nvPr/>
        </p:nvSpPr>
        <p:spPr>
          <a:xfrm>
            <a:off x="9303791" y="5413248"/>
            <a:ext cx="2110664" cy="384048"/>
          </a:xfrm>
          <a:prstGeom prst="rect">
            <a:avLst/>
          </a:prstGeom>
          <a:noFill/>
          <a:ln/>
        </p:spPr>
        <p:txBody>
          <a:bodyPr wrap="square" lIns="0" tIns="0" rIns="0" bIns="0" rtlCol="0" anchor="ctr"/>
          <a:lstStyle/>
          <a:p>
            <a:pPr indent="0" marL="0">
              <a:buNone/>
            </a:pPr>
            <a:r>
              <a:rPr lang="en-US" sz="2400" b="1" dirty="0">
                <a:solidFill>
                  <a:schemeClr val="accent1"/>
                </a:solidFill>
                <a:latin typeface="+mj-lt" pitchFamily="34" charset="0"/>
                <a:ea typeface="+mj-lt" pitchFamily="34" charset="-122"/>
                <a:cs typeface="+mj-lt" pitchFamily="34" charset="-120"/>
              </a:rPr>
              <a:t>+$349K</a:t>
            </a:r>
            <a:endParaRPr lang="en-US" sz="2400" dirty="0"/>
          </a:p>
        </p:txBody>
      </p:sp>
      <p:sp>
        <p:nvSpPr>
          <p:cNvPr id="40" name="Result 4 caption"/>
          <p:cNvSpPr txBox="1"/>
          <p:nvPr/>
        </p:nvSpPr>
        <p:spPr>
          <a:xfrm>
            <a:off x="9303791" y="5797296"/>
            <a:ext cx="2110664" cy="274320"/>
          </a:xfrm>
          <a:prstGeom prst="rect">
            <a:avLst/>
          </a:prstGeom>
          <a:noFill/>
          <a:ln/>
        </p:spPr>
        <p:txBody>
          <a:bodyPr wrap="square" lIns="0" tIns="0" rIns="0" bIns="0" rtlCol="0" anchor="ctr"/>
          <a:lstStyle/>
          <a:p>
            <a:pPr indent="0" marL="0">
              <a:buNone/>
            </a:pPr>
            <a:r>
              <a:rPr lang="en-US" sz="1200" dirty="0">
                <a:solidFill>
                  <a:schemeClr val="tx1"/>
                </a:solidFill>
              </a:rPr>
              <a:t>for one 120-car fleet</a:t>
            </a:r>
            <a:endParaRPr lang="en-US" sz="12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600" b="1" dirty="0">
                <a:solidFill>
                  <a:schemeClr val="bg1"/>
                </a:solidFill>
              </a:rPr>
              <a:t>GoingOnce in action</a:t>
            </a:r>
            <a:endParaRPr lang="en-US" sz="3600" dirty="0"/>
          </a:p>
        </p:txBody>
      </p:sp>
      <p:sp>
        <p:nvSpPr>
          <p:cNvPr id="3" name="Video area"/>
          <p:cNvSpPr/>
          <p:nvPr/>
        </p:nvSpPr>
        <p:spPr>
          <a:xfrm>
            <a:off x="548640" y="1371600"/>
            <a:ext cx="8138160" cy="4577715"/>
          </a:xfrm>
          <a:prstGeom prst="roundRect">
            <a:avLst>
              <a:gd name="adj" fmla="val 1998"/>
            </a:avLst>
          </a:prstGeom>
          <a:solidFill>
            <a:schemeClr val="accent6"/>
          </a:solidFill>
          <a:ln w="12700">
            <a:solidFill>
              <a:schemeClr val="accent6"/>
            </a:solidFill>
            <a:prstDash val="solid"/>
          </a:ln>
        </p:spPr>
      </p:sp>
      <p:sp>
        <p:nvSpPr>
          <p:cNvPr id="4" name="Demo Buy circle"/>
          <p:cNvSpPr/>
          <p:nvPr/>
        </p:nvSpPr>
        <p:spPr>
          <a:xfrm>
            <a:off x="9052560" y="1417320"/>
            <a:ext cx="566928" cy="566928"/>
          </a:xfrm>
          <a:prstGeom prst="ellipse">
            <a:avLst/>
          </a:prstGeom>
          <a:solidFill>
            <a:schemeClr val="accent1"/>
          </a:solidFill>
          <a:ln w="12700">
            <a:solidFill>
              <a:schemeClr val="accent1"/>
            </a:solidFill>
            <a:prstDash val="solid"/>
          </a:ln>
        </p:spPr>
      </p:sp>
      <p:pic>
        <p:nvPicPr>
          <p:cNvPr id="5" name="Demo Buy icon" descr="preencoded.png">    </p:cNvPr>
          <p:cNvPicPr>
            <a:picLocks noChangeAspect="1"/>
          </p:cNvPicPr>
          <p:nvPr/>
        </p:nvPicPr>
        <p:blipFill>
          <a:blip r:embed="rId1"/>
          <a:stretch>
            <a:fillRect/>
          </a:stretch>
        </p:blipFill>
        <p:spPr>
          <a:xfrm>
            <a:off x="9194292" y="1559052"/>
            <a:ext cx="283464" cy="283464"/>
          </a:xfrm>
          <a:prstGeom prst="rect">
            <a:avLst/>
          </a:prstGeom>
        </p:spPr>
      </p:pic>
      <p:sp>
        <p:nvSpPr>
          <p:cNvPr id="6" name="Demo Buy name"/>
          <p:cNvSpPr txBox="1"/>
          <p:nvPr/>
        </p:nvSpPr>
        <p:spPr>
          <a:xfrm>
            <a:off x="9784080" y="1399032"/>
            <a:ext cx="1858975" cy="310896"/>
          </a:xfrm>
          <a:prstGeom prst="rect">
            <a:avLst/>
          </a:prstGeom>
          <a:noFill/>
          <a:ln/>
        </p:spPr>
        <p:txBody>
          <a:bodyPr wrap="square" lIns="0" tIns="0" rIns="0" bIns="0" rtlCol="0" anchor="ctr"/>
          <a:lstStyle/>
          <a:p>
            <a:pPr indent="0" marL="0">
              <a:buNone/>
            </a:pPr>
            <a:r>
              <a:rPr lang="en-US" sz="1600" b="1" dirty="0">
                <a:solidFill>
                  <a:schemeClr val="bg1"/>
                </a:solidFill>
              </a:rPr>
              <a:t>Buy</a:t>
            </a:r>
            <a:endParaRPr lang="en-US" sz="1600" dirty="0"/>
          </a:p>
        </p:txBody>
      </p:sp>
      <p:sp>
        <p:nvSpPr>
          <p:cNvPr id="7" name="Demo Buy text"/>
          <p:cNvSpPr txBox="1"/>
          <p:nvPr/>
        </p:nvSpPr>
        <p:spPr>
          <a:xfrm>
            <a:off x="9784080" y="1709928"/>
            <a:ext cx="1858975" cy="713232"/>
          </a:xfrm>
          <a:prstGeom prst="rect">
            <a:avLst/>
          </a:prstGeom>
          <a:noFill/>
          <a:ln/>
        </p:spPr>
        <p:txBody>
          <a:bodyPr wrap="square" lIns="0" tIns="0" rIns="0" bIns="0" rtlCol="0" anchor="t"/>
          <a:lstStyle/>
          <a:p>
            <a:pPr indent="0" marL="0">
              <a:buNone/>
            </a:pPr>
            <a:r>
              <a:rPr lang="en-US" sz="1400" dirty="0">
                <a:solidFill>
                  <a:schemeClr val="bg2"/>
                </a:solidFill>
              </a:rPr>
              <a:t>Finds cars, catches hidden damage, asks before bidding</a:t>
            </a:r>
            <a:endParaRPr lang="en-US" sz="1400" dirty="0"/>
          </a:p>
        </p:txBody>
      </p:sp>
      <p:sp>
        <p:nvSpPr>
          <p:cNvPr id="8" name="Demo Sell circle"/>
          <p:cNvSpPr/>
          <p:nvPr/>
        </p:nvSpPr>
        <p:spPr>
          <a:xfrm>
            <a:off x="9052560" y="2551176"/>
            <a:ext cx="566928" cy="566928"/>
          </a:xfrm>
          <a:prstGeom prst="ellipse">
            <a:avLst/>
          </a:prstGeom>
          <a:solidFill>
            <a:schemeClr val="accent1"/>
          </a:solidFill>
          <a:ln w="12700">
            <a:solidFill>
              <a:schemeClr val="accent1"/>
            </a:solidFill>
            <a:prstDash val="solid"/>
          </a:ln>
        </p:spPr>
      </p:sp>
      <p:pic>
        <p:nvPicPr>
          <p:cNvPr id="9" name="Demo Sell icon" descr="preencoded.png">    </p:cNvPr>
          <p:cNvPicPr>
            <a:picLocks noChangeAspect="1"/>
          </p:cNvPicPr>
          <p:nvPr/>
        </p:nvPicPr>
        <p:blipFill>
          <a:blip r:embed="rId2"/>
          <a:stretch>
            <a:fillRect/>
          </a:stretch>
        </p:blipFill>
        <p:spPr>
          <a:xfrm>
            <a:off x="9194292" y="2692908"/>
            <a:ext cx="283464" cy="283464"/>
          </a:xfrm>
          <a:prstGeom prst="rect">
            <a:avLst/>
          </a:prstGeom>
        </p:spPr>
      </p:pic>
      <p:sp>
        <p:nvSpPr>
          <p:cNvPr id="10" name="Demo Sell name"/>
          <p:cNvSpPr txBox="1"/>
          <p:nvPr/>
        </p:nvSpPr>
        <p:spPr>
          <a:xfrm>
            <a:off x="9784080" y="2532888"/>
            <a:ext cx="1858975" cy="310896"/>
          </a:xfrm>
          <a:prstGeom prst="rect">
            <a:avLst/>
          </a:prstGeom>
          <a:noFill/>
          <a:ln/>
        </p:spPr>
        <p:txBody>
          <a:bodyPr wrap="square" lIns="0" tIns="0" rIns="0" bIns="0" rtlCol="0" anchor="ctr"/>
          <a:lstStyle/>
          <a:p>
            <a:pPr indent="0" marL="0">
              <a:buNone/>
            </a:pPr>
            <a:r>
              <a:rPr lang="en-US" sz="1600" b="1" dirty="0">
                <a:solidFill>
                  <a:schemeClr val="bg1"/>
                </a:solidFill>
              </a:rPr>
              <a:t>Sell</a:t>
            </a:r>
            <a:endParaRPr lang="en-US" sz="1600" dirty="0"/>
          </a:p>
        </p:txBody>
      </p:sp>
      <p:sp>
        <p:nvSpPr>
          <p:cNvPr id="11" name="Demo Sell text"/>
          <p:cNvSpPr txBox="1"/>
          <p:nvPr/>
        </p:nvSpPr>
        <p:spPr>
          <a:xfrm>
            <a:off x="9784080" y="2843784"/>
            <a:ext cx="1858975" cy="713232"/>
          </a:xfrm>
          <a:prstGeom prst="rect">
            <a:avLst/>
          </a:prstGeom>
          <a:noFill/>
          <a:ln/>
        </p:spPr>
        <p:txBody>
          <a:bodyPr wrap="square" lIns="0" tIns="0" rIns="0" bIns="0" rtlCol="0" anchor="t"/>
          <a:lstStyle/>
          <a:p>
            <a:pPr indent="0" marL="0">
              <a:buNone/>
            </a:pPr>
            <a:r>
              <a:rPr lang="en-US" sz="1400" dirty="0">
                <a:solidFill>
                  <a:schemeClr val="bg2"/>
                </a:solidFill>
              </a:rPr>
              <a:t>Photo report, best way to sell, buyers already waiting</a:t>
            </a:r>
            <a:endParaRPr lang="en-US" sz="1400" dirty="0"/>
          </a:p>
        </p:txBody>
      </p:sp>
      <p:sp>
        <p:nvSpPr>
          <p:cNvPr id="12" name="Demo Negotiate circle"/>
          <p:cNvSpPr/>
          <p:nvPr/>
        </p:nvSpPr>
        <p:spPr>
          <a:xfrm>
            <a:off x="9052560" y="3685032"/>
            <a:ext cx="566928" cy="566928"/>
          </a:xfrm>
          <a:prstGeom prst="ellipse">
            <a:avLst/>
          </a:prstGeom>
          <a:solidFill>
            <a:schemeClr val="accent1"/>
          </a:solidFill>
          <a:ln w="12700">
            <a:solidFill>
              <a:schemeClr val="accent1"/>
            </a:solidFill>
            <a:prstDash val="solid"/>
          </a:ln>
        </p:spPr>
      </p:sp>
      <p:pic>
        <p:nvPicPr>
          <p:cNvPr id="13" name="Demo Negotiate icon" descr="preencoded.png">    </p:cNvPr>
          <p:cNvPicPr>
            <a:picLocks noChangeAspect="1"/>
          </p:cNvPicPr>
          <p:nvPr/>
        </p:nvPicPr>
        <p:blipFill>
          <a:blip r:embed="rId3"/>
          <a:stretch>
            <a:fillRect/>
          </a:stretch>
        </p:blipFill>
        <p:spPr>
          <a:xfrm>
            <a:off x="9194292" y="3826764"/>
            <a:ext cx="283464" cy="283464"/>
          </a:xfrm>
          <a:prstGeom prst="rect">
            <a:avLst/>
          </a:prstGeom>
        </p:spPr>
      </p:pic>
      <p:sp>
        <p:nvSpPr>
          <p:cNvPr id="14" name="Demo Negotiate name"/>
          <p:cNvSpPr txBox="1"/>
          <p:nvPr/>
        </p:nvSpPr>
        <p:spPr>
          <a:xfrm>
            <a:off x="9784080" y="3666744"/>
            <a:ext cx="1858975" cy="310896"/>
          </a:xfrm>
          <a:prstGeom prst="rect">
            <a:avLst/>
          </a:prstGeom>
          <a:noFill/>
          <a:ln/>
        </p:spPr>
        <p:txBody>
          <a:bodyPr wrap="square" lIns="0" tIns="0" rIns="0" bIns="0" rtlCol="0" anchor="ctr"/>
          <a:lstStyle/>
          <a:p>
            <a:pPr indent="0" marL="0">
              <a:buNone/>
            </a:pPr>
            <a:r>
              <a:rPr lang="en-US" sz="1600" b="1" dirty="0">
                <a:solidFill>
                  <a:schemeClr val="bg1"/>
                </a:solidFill>
              </a:rPr>
              <a:t>Negotiate</a:t>
            </a:r>
            <a:endParaRPr lang="en-US" sz="1600" dirty="0"/>
          </a:p>
        </p:txBody>
      </p:sp>
      <p:sp>
        <p:nvSpPr>
          <p:cNvPr id="15" name="Demo Negotiate text"/>
          <p:cNvSpPr txBox="1"/>
          <p:nvPr/>
        </p:nvSpPr>
        <p:spPr>
          <a:xfrm>
            <a:off x="9784080" y="3977640"/>
            <a:ext cx="1858975" cy="713232"/>
          </a:xfrm>
          <a:prstGeom prst="rect">
            <a:avLst/>
          </a:prstGeom>
          <a:noFill/>
          <a:ln/>
        </p:spPr>
        <p:txBody>
          <a:bodyPr wrap="square" lIns="0" tIns="0" rIns="0" bIns="0" rtlCol="0" anchor="t"/>
          <a:lstStyle/>
          <a:p>
            <a:pPr indent="0" marL="0">
              <a:buNone/>
            </a:pPr>
            <a:r>
              <a:rPr lang="en-US" sz="1400" dirty="0">
                <a:solidFill>
                  <a:schemeClr val="bg2"/>
                </a:solidFill>
              </a:rPr>
              <a:t>Closes the price gap, then pays, insures and ships</a:t>
            </a:r>
            <a:endParaRPr lang="en-US" sz="1400" dirty="0"/>
          </a:p>
        </p:txBody>
      </p:sp>
      <p:sp>
        <p:nvSpPr>
          <p:cNvPr id="16" name="Demo Fleet circle"/>
          <p:cNvSpPr/>
          <p:nvPr/>
        </p:nvSpPr>
        <p:spPr>
          <a:xfrm>
            <a:off x="9052560" y="4818888"/>
            <a:ext cx="566928" cy="566928"/>
          </a:xfrm>
          <a:prstGeom prst="ellipse">
            <a:avLst/>
          </a:prstGeom>
          <a:solidFill>
            <a:schemeClr val="accent1"/>
          </a:solidFill>
          <a:ln w="12700">
            <a:solidFill>
              <a:schemeClr val="accent1"/>
            </a:solidFill>
            <a:prstDash val="solid"/>
          </a:ln>
        </p:spPr>
      </p:sp>
      <p:pic>
        <p:nvPicPr>
          <p:cNvPr id="17" name="Demo Fleet icon" descr="preencoded.png">    </p:cNvPr>
          <p:cNvPicPr>
            <a:picLocks noChangeAspect="1"/>
          </p:cNvPicPr>
          <p:nvPr/>
        </p:nvPicPr>
        <p:blipFill>
          <a:blip r:embed="rId4"/>
          <a:stretch>
            <a:fillRect/>
          </a:stretch>
        </p:blipFill>
        <p:spPr>
          <a:xfrm>
            <a:off x="9194292" y="4960620"/>
            <a:ext cx="283464" cy="283464"/>
          </a:xfrm>
          <a:prstGeom prst="rect">
            <a:avLst/>
          </a:prstGeom>
        </p:spPr>
      </p:pic>
      <p:sp>
        <p:nvSpPr>
          <p:cNvPr id="18" name="Demo Fleet name"/>
          <p:cNvSpPr txBox="1"/>
          <p:nvPr/>
        </p:nvSpPr>
        <p:spPr>
          <a:xfrm>
            <a:off x="9784080" y="4800600"/>
            <a:ext cx="1858975" cy="310896"/>
          </a:xfrm>
          <a:prstGeom prst="rect">
            <a:avLst/>
          </a:prstGeom>
          <a:noFill/>
          <a:ln/>
        </p:spPr>
        <p:txBody>
          <a:bodyPr wrap="square" lIns="0" tIns="0" rIns="0" bIns="0" rtlCol="0" anchor="ctr"/>
          <a:lstStyle/>
          <a:p>
            <a:pPr indent="0" marL="0">
              <a:buNone/>
            </a:pPr>
            <a:r>
              <a:rPr lang="en-US" sz="1600" b="1" dirty="0">
                <a:solidFill>
                  <a:schemeClr val="bg1"/>
                </a:solidFill>
              </a:rPr>
              <a:t>Fleet</a:t>
            </a:r>
            <a:endParaRPr lang="en-US" sz="1600" dirty="0"/>
          </a:p>
        </p:txBody>
      </p:sp>
      <p:sp>
        <p:nvSpPr>
          <p:cNvPr id="19" name="Demo Fleet text"/>
          <p:cNvSpPr txBox="1"/>
          <p:nvPr/>
        </p:nvSpPr>
        <p:spPr>
          <a:xfrm>
            <a:off x="9784080" y="5111496"/>
            <a:ext cx="1858975" cy="713232"/>
          </a:xfrm>
          <a:prstGeom prst="rect">
            <a:avLst/>
          </a:prstGeom>
          <a:noFill/>
          <a:ln/>
        </p:spPr>
        <p:txBody>
          <a:bodyPr wrap="square" lIns="0" tIns="0" rIns="0" bIns="0" rtlCol="0" anchor="t"/>
          <a:lstStyle/>
          <a:p>
            <a:pPr indent="0" marL="0">
              <a:buNone/>
            </a:pPr>
            <a:r>
              <a:rPr lang="en-US" sz="1400" dirty="0">
                <a:solidFill>
                  <a:schemeClr val="bg2"/>
                </a:solidFill>
              </a:rPr>
              <a:t>Moves 120 cars in full trucks so prices hold</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How GoingOnce supports AI for Good</a:t>
            </a:r>
            <a:endParaRPr lang="en-US" sz="3600" dirty="0"/>
          </a:p>
        </p:txBody>
      </p:sp>
      <p:sp>
        <p:nvSpPr>
          <p:cNvPr id="3" name="Protects families from fraud card"/>
          <p:cNvSpPr/>
          <p:nvPr/>
        </p:nvSpPr>
        <p:spPr>
          <a:xfrm>
            <a:off x="548640" y="1600200"/>
            <a:ext cx="5364328"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0F1C2E">
                <a:alpha val="12000"/>
              </a:srgbClr>
            </a:outerShdw>
          </a:effectLst>
        </p:spPr>
      </p:sp>
      <p:sp>
        <p:nvSpPr>
          <p:cNvPr id="4" name="Protects families from fraud circle"/>
          <p:cNvSpPr/>
          <p:nvPr/>
        </p:nvSpPr>
        <p:spPr>
          <a:xfrm>
            <a:off x="868680" y="1965960"/>
            <a:ext cx="777240" cy="777240"/>
          </a:xfrm>
          <a:prstGeom prst="ellipse">
            <a:avLst/>
          </a:prstGeom>
          <a:solidFill>
            <a:schemeClr val="accent3"/>
          </a:solidFill>
          <a:ln w="12700">
            <a:solidFill>
              <a:schemeClr val="accent3"/>
            </a:solidFill>
            <a:prstDash val="solid"/>
          </a:ln>
        </p:spPr>
      </p:sp>
      <p:pic>
        <p:nvPicPr>
          <p:cNvPr id="5" name="Protects families from fraud icon" descr="preencoded.png">    </p:cNvPr>
          <p:cNvPicPr>
            <a:picLocks noChangeAspect="1"/>
          </p:cNvPicPr>
          <p:nvPr/>
        </p:nvPicPr>
        <p:blipFill>
          <a:blip r:embed="rId1"/>
          <a:stretch>
            <a:fillRect/>
          </a:stretch>
        </p:blipFill>
        <p:spPr>
          <a:xfrm>
            <a:off x="1062990" y="2160270"/>
            <a:ext cx="388620" cy="388620"/>
          </a:xfrm>
          <a:prstGeom prst="rect">
            <a:avLst/>
          </a:prstGeom>
        </p:spPr>
      </p:pic>
      <p:sp>
        <p:nvSpPr>
          <p:cNvPr id="6" name="Protects families from fraud heading"/>
          <p:cNvSpPr txBox="1"/>
          <p:nvPr/>
        </p:nvSpPr>
        <p:spPr>
          <a:xfrm>
            <a:off x="1920240" y="1947672"/>
            <a:ext cx="3718408" cy="457200"/>
          </a:xfrm>
          <a:prstGeom prst="rect">
            <a:avLst/>
          </a:prstGeom>
          <a:noFill/>
          <a:ln/>
        </p:spPr>
        <p:txBody>
          <a:bodyPr wrap="square" lIns="0" tIns="0" rIns="0" bIns="0" rtlCol="0" anchor="ctr"/>
          <a:lstStyle/>
          <a:p>
            <a:pPr indent="0" marL="0">
              <a:buNone/>
            </a:pPr>
            <a:r>
              <a:rPr lang="en-US" sz="2000" b="1" dirty="0">
                <a:solidFill>
                  <a:schemeClr val="tx1"/>
                </a:solidFill>
              </a:rPr>
              <a:t>Protects families from fraud</a:t>
            </a:r>
            <a:endParaRPr lang="en-US" sz="2000" dirty="0"/>
          </a:p>
        </p:txBody>
      </p:sp>
      <p:sp>
        <p:nvSpPr>
          <p:cNvPr id="7" name="Protects families from fraud text"/>
          <p:cNvSpPr txBox="1"/>
          <p:nvPr/>
        </p:nvSpPr>
        <p:spPr>
          <a:xfrm>
            <a:off x="1920240" y="2468880"/>
            <a:ext cx="3718408" cy="1097280"/>
          </a:xfrm>
          <a:prstGeom prst="rect">
            <a:avLst/>
          </a:prstGeom>
          <a:noFill/>
          <a:ln/>
        </p:spPr>
        <p:txBody>
          <a:bodyPr wrap="square" lIns="0" tIns="0" rIns="0" bIns="0" rtlCol="0" anchor="t"/>
          <a:lstStyle/>
          <a:p>
            <a:pPr indent="0" marL="0">
              <a:buNone/>
            </a:pPr>
            <a:r>
              <a:rPr lang="en-US" sz="1500" dirty="0">
                <a:solidFill>
                  <a:schemeClr val="tx1"/>
                </a:solidFill>
              </a:rPr>
              <a:t>Catches flood-damaged cars, washed titles and rolled-back odometers before anyone buys them.</a:t>
            </a:r>
            <a:endParaRPr lang="en-US" sz="1500" dirty="0"/>
          </a:p>
        </p:txBody>
      </p:sp>
      <p:sp>
        <p:nvSpPr>
          <p:cNvPr id="8" name="Fair deals for both sides card"/>
          <p:cNvSpPr/>
          <p:nvPr/>
        </p:nvSpPr>
        <p:spPr>
          <a:xfrm>
            <a:off x="6278728" y="1600200"/>
            <a:ext cx="5364328"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0F1C2E">
                <a:alpha val="12000"/>
              </a:srgbClr>
            </a:outerShdw>
          </a:effectLst>
        </p:spPr>
      </p:sp>
      <p:sp>
        <p:nvSpPr>
          <p:cNvPr id="9" name="Fair deals for both sides circle"/>
          <p:cNvSpPr/>
          <p:nvPr/>
        </p:nvSpPr>
        <p:spPr>
          <a:xfrm>
            <a:off x="6598768" y="1965960"/>
            <a:ext cx="777240" cy="777240"/>
          </a:xfrm>
          <a:prstGeom prst="ellipse">
            <a:avLst/>
          </a:prstGeom>
          <a:solidFill>
            <a:schemeClr val="accent3"/>
          </a:solidFill>
          <a:ln w="12700">
            <a:solidFill>
              <a:schemeClr val="accent3"/>
            </a:solidFill>
            <a:prstDash val="solid"/>
          </a:ln>
        </p:spPr>
      </p:sp>
      <p:pic>
        <p:nvPicPr>
          <p:cNvPr id="10" name="Fair deals for both sides icon" descr="preencoded.png">    </p:cNvPr>
          <p:cNvPicPr>
            <a:picLocks noChangeAspect="1"/>
          </p:cNvPicPr>
          <p:nvPr/>
        </p:nvPicPr>
        <p:blipFill>
          <a:blip r:embed="rId2"/>
          <a:stretch>
            <a:fillRect/>
          </a:stretch>
        </p:blipFill>
        <p:spPr>
          <a:xfrm>
            <a:off x="6793078" y="2160270"/>
            <a:ext cx="388620" cy="388620"/>
          </a:xfrm>
          <a:prstGeom prst="rect">
            <a:avLst/>
          </a:prstGeom>
        </p:spPr>
      </p:pic>
      <p:sp>
        <p:nvSpPr>
          <p:cNvPr id="11" name="Fair deals for both sides heading"/>
          <p:cNvSpPr txBox="1"/>
          <p:nvPr/>
        </p:nvSpPr>
        <p:spPr>
          <a:xfrm>
            <a:off x="7650328" y="1947672"/>
            <a:ext cx="3718408" cy="457200"/>
          </a:xfrm>
          <a:prstGeom prst="rect">
            <a:avLst/>
          </a:prstGeom>
          <a:noFill/>
          <a:ln/>
        </p:spPr>
        <p:txBody>
          <a:bodyPr wrap="square" lIns="0" tIns="0" rIns="0" bIns="0" rtlCol="0" anchor="ctr"/>
          <a:lstStyle/>
          <a:p>
            <a:pPr indent="0" marL="0">
              <a:buNone/>
            </a:pPr>
            <a:r>
              <a:rPr lang="en-US" sz="2000" b="1" dirty="0">
                <a:solidFill>
                  <a:schemeClr val="tx1"/>
                </a:solidFill>
              </a:rPr>
              <a:t>Fair deals for both sides</a:t>
            </a:r>
            <a:endParaRPr lang="en-US" sz="2000" dirty="0"/>
          </a:p>
        </p:txBody>
      </p:sp>
      <p:sp>
        <p:nvSpPr>
          <p:cNvPr id="12" name="Fair deals for both sides text"/>
          <p:cNvSpPr txBox="1"/>
          <p:nvPr/>
        </p:nvSpPr>
        <p:spPr>
          <a:xfrm>
            <a:off x="7650328" y="2468880"/>
            <a:ext cx="3718408" cy="1097280"/>
          </a:xfrm>
          <a:prstGeom prst="rect">
            <a:avLst/>
          </a:prstGeom>
          <a:noFill/>
          <a:ln/>
        </p:spPr>
        <p:txBody>
          <a:bodyPr wrap="square" lIns="0" tIns="0" rIns="0" bIns="0" rtlCol="0" anchor="t"/>
          <a:lstStyle/>
          <a:p>
            <a:pPr indent="0" marL="0">
              <a:buNone/>
            </a:pPr>
            <a:r>
              <a:rPr lang="en-US" sz="1500" dirty="0">
                <a:solidFill>
                  <a:schemeClr val="tx1"/>
                </a:solidFill>
              </a:rPr>
              <a:t>Each side keeps its own limit. The AI shows real market prices and never pushes anyone past their limit.</a:t>
            </a:r>
            <a:endParaRPr lang="en-US" sz="1500" dirty="0"/>
          </a:p>
        </p:txBody>
      </p:sp>
      <p:sp>
        <p:nvSpPr>
          <p:cNvPr id="13" name="Less waste, fewer emissions card"/>
          <p:cNvSpPr/>
          <p:nvPr/>
        </p:nvSpPr>
        <p:spPr>
          <a:xfrm>
            <a:off x="548640" y="3931920"/>
            <a:ext cx="5364328"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0F1C2E">
                <a:alpha val="12000"/>
              </a:srgbClr>
            </a:outerShdw>
          </a:effectLst>
        </p:spPr>
      </p:sp>
      <p:sp>
        <p:nvSpPr>
          <p:cNvPr id="14" name="Less waste, fewer emissions circle"/>
          <p:cNvSpPr/>
          <p:nvPr/>
        </p:nvSpPr>
        <p:spPr>
          <a:xfrm>
            <a:off x="868680" y="4297680"/>
            <a:ext cx="777240" cy="777240"/>
          </a:xfrm>
          <a:prstGeom prst="ellipse">
            <a:avLst/>
          </a:prstGeom>
          <a:solidFill>
            <a:schemeClr val="accent3"/>
          </a:solidFill>
          <a:ln w="12700">
            <a:solidFill>
              <a:schemeClr val="accent3"/>
            </a:solidFill>
            <a:prstDash val="solid"/>
          </a:ln>
        </p:spPr>
      </p:sp>
      <p:pic>
        <p:nvPicPr>
          <p:cNvPr id="15" name="Less waste, fewer emissions icon" descr="preencoded.png">    </p:cNvPr>
          <p:cNvPicPr>
            <a:picLocks noChangeAspect="1"/>
          </p:cNvPicPr>
          <p:nvPr/>
        </p:nvPicPr>
        <p:blipFill>
          <a:blip r:embed="rId3"/>
          <a:stretch>
            <a:fillRect/>
          </a:stretch>
        </p:blipFill>
        <p:spPr>
          <a:xfrm>
            <a:off x="1062990" y="4491990"/>
            <a:ext cx="388620" cy="388620"/>
          </a:xfrm>
          <a:prstGeom prst="rect">
            <a:avLst/>
          </a:prstGeom>
        </p:spPr>
      </p:pic>
      <p:sp>
        <p:nvSpPr>
          <p:cNvPr id="16" name="Less waste, fewer emissions heading"/>
          <p:cNvSpPr txBox="1"/>
          <p:nvPr/>
        </p:nvSpPr>
        <p:spPr>
          <a:xfrm>
            <a:off x="1920240" y="4279392"/>
            <a:ext cx="3718408" cy="457200"/>
          </a:xfrm>
          <a:prstGeom prst="rect">
            <a:avLst/>
          </a:prstGeom>
          <a:noFill/>
          <a:ln/>
        </p:spPr>
        <p:txBody>
          <a:bodyPr wrap="square" lIns="0" tIns="0" rIns="0" bIns="0" rtlCol="0" anchor="ctr"/>
          <a:lstStyle/>
          <a:p>
            <a:pPr indent="0" marL="0">
              <a:buNone/>
            </a:pPr>
            <a:r>
              <a:rPr lang="en-US" sz="2000" b="1" dirty="0">
                <a:solidFill>
                  <a:schemeClr val="tx1"/>
                </a:solidFill>
              </a:rPr>
              <a:t>Less waste, fewer emissions</a:t>
            </a:r>
            <a:endParaRPr lang="en-US" sz="2000" dirty="0"/>
          </a:p>
        </p:txBody>
      </p:sp>
      <p:sp>
        <p:nvSpPr>
          <p:cNvPr id="17" name="Less waste, fewer emissions text"/>
          <p:cNvSpPr txBox="1"/>
          <p:nvPr/>
        </p:nvSpPr>
        <p:spPr>
          <a:xfrm>
            <a:off x="1920240" y="4800600"/>
            <a:ext cx="3718408" cy="1097280"/>
          </a:xfrm>
          <a:prstGeom prst="rect">
            <a:avLst/>
          </a:prstGeom>
          <a:noFill/>
          <a:ln/>
        </p:spPr>
        <p:txBody>
          <a:bodyPr wrap="square" lIns="0" tIns="0" rIns="0" bIns="0" rtlCol="0" anchor="t"/>
          <a:lstStyle/>
          <a:p>
            <a:pPr indent="0" marL="0">
              <a:buNone/>
            </a:pPr>
            <a:r>
              <a:rPr lang="en-US" sz="1500" dirty="0">
                <a:solidFill>
                  <a:schemeClr val="tx1"/>
                </a:solidFill>
              </a:rPr>
              <a:t>14 full trucks instead of 98 single trips. Unsold cars reach buyers worldwide instead of the scrapyard.</a:t>
            </a:r>
            <a:endParaRPr lang="en-US" sz="1500" dirty="0"/>
          </a:p>
        </p:txBody>
      </p:sp>
      <p:sp>
        <p:nvSpPr>
          <p:cNvPr id="18" name="People stay in control card"/>
          <p:cNvSpPr/>
          <p:nvPr/>
        </p:nvSpPr>
        <p:spPr>
          <a:xfrm>
            <a:off x="6278728" y="3931920"/>
            <a:ext cx="5364328"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0F1C2E">
                <a:alpha val="12000"/>
              </a:srgbClr>
            </a:outerShdw>
          </a:effectLst>
        </p:spPr>
      </p:sp>
      <p:sp>
        <p:nvSpPr>
          <p:cNvPr id="19" name="People stay in control circle"/>
          <p:cNvSpPr/>
          <p:nvPr/>
        </p:nvSpPr>
        <p:spPr>
          <a:xfrm>
            <a:off x="6598768" y="4297680"/>
            <a:ext cx="777240" cy="777240"/>
          </a:xfrm>
          <a:prstGeom prst="ellipse">
            <a:avLst/>
          </a:prstGeom>
          <a:solidFill>
            <a:schemeClr val="accent3"/>
          </a:solidFill>
          <a:ln w="12700">
            <a:solidFill>
              <a:schemeClr val="accent3"/>
            </a:solidFill>
            <a:prstDash val="solid"/>
          </a:ln>
        </p:spPr>
      </p:sp>
      <p:pic>
        <p:nvPicPr>
          <p:cNvPr id="20" name="People stay in control icon" descr="preencoded.png">    </p:cNvPr>
          <p:cNvPicPr>
            <a:picLocks noChangeAspect="1"/>
          </p:cNvPicPr>
          <p:nvPr/>
        </p:nvPicPr>
        <p:blipFill>
          <a:blip r:embed="rId4"/>
          <a:stretch>
            <a:fillRect/>
          </a:stretch>
        </p:blipFill>
        <p:spPr>
          <a:xfrm>
            <a:off x="6793078" y="4491990"/>
            <a:ext cx="388620" cy="388620"/>
          </a:xfrm>
          <a:prstGeom prst="rect">
            <a:avLst/>
          </a:prstGeom>
        </p:spPr>
      </p:pic>
      <p:sp>
        <p:nvSpPr>
          <p:cNvPr id="21" name="People stay in control heading"/>
          <p:cNvSpPr txBox="1"/>
          <p:nvPr/>
        </p:nvSpPr>
        <p:spPr>
          <a:xfrm>
            <a:off x="7650328" y="4279392"/>
            <a:ext cx="3718408" cy="457200"/>
          </a:xfrm>
          <a:prstGeom prst="rect">
            <a:avLst/>
          </a:prstGeom>
          <a:noFill/>
          <a:ln/>
        </p:spPr>
        <p:txBody>
          <a:bodyPr wrap="square" lIns="0" tIns="0" rIns="0" bIns="0" rtlCol="0" anchor="ctr"/>
          <a:lstStyle/>
          <a:p>
            <a:pPr indent="0" marL="0">
              <a:buNone/>
            </a:pPr>
            <a:r>
              <a:rPr lang="en-US" sz="2000" b="1" dirty="0">
                <a:solidFill>
                  <a:schemeClr val="tx1"/>
                </a:solidFill>
              </a:rPr>
              <a:t>People stay in control</a:t>
            </a:r>
            <a:endParaRPr lang="en-US" sz="2000" dirty="0"/>
          </a:p>
        </p:txBody>
      </p:sp>
      <p:sp>
        <p:nvSpPr>
          <p:cNvPr id="22" name="People stay in control text"/>
          <p:cNvSpPr txBox="1"/>
          <p:nvPr/>
        </p:nvSpPr>
        <p:spPr>
          <a:xfrm>
            <a:off x="7650328" y="4800600"/>
            <a:ext cx="3718408" cy="1097280"/>
          </a:xfrm>
          <a:prstGeom prst="rect">
            <a:avLst/>
          </a:prstGeom>
          <a:noFill/>
          <a:ln/>
        </p:spPr>
        <p:txBody>
          <a:bodyPr wrap="square" lIns="0" tIns="0" rIns="0" bIns="0" rtlCol="0" anchor="t"/>
          <a:lstStyle/>
          <a:p>
            <a:pPr indent="0" marL="0">
              <a:buNone/>
            </a:pPr>
            <a:r>
              <a:rPr lang="en-US" sz="1500" dirty="0">
                <a:solidFill>
                  <a:schemeClr val="tx1"/>
                </a:solidFill>
              </a:rPr>
              <a:t>Every step is shown. The AI never spends, lists or signs anything without a person's OK.</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600" b="1" dirty="0">
                <a:solidFill>
                  <a:schemeClr val="bg1"/>
                </a:solidFill>
              </a:rPr>
              <a:t>Why it matters for ACV, and what's next</a:t>
            </a:r>
            <a:endParaRPr lang="en-US" sz="3600" dirty="0"/>
          </a:p>
        </p:txBody>
      </p:sp>
      <p:sp>
        <p:nvSpPr>
          <p:cNvPr id="3" name="Stat 1 number"/>
          <p:cNvSpPr txBox="1"/>
          <p:nvPr/>
        </p:nvSpPr>
        <p:spPr>
          <a:xfrm>
            <a:off x="548640" y="1463040"/>
            <a:ext cx="4937760" cy="731520"/>
          </a:xfrm>
          <a:prstGeom prst="rect">
            <a:avLst/>
          </a:prstGeom>
          <a:noFill/>
          <a:ln/>
        </p:spPr>
        <p:txBody>
          <a:bodyPr wrap="square" lIns="0" tIns="0" rIns="0" bIns="0" rtlCol="0" anchor="ctr"/>
          <a:lstStyle/>
          <a:p>
            <a:pPr indent="0" marL="0">
              <a:buNone/>
            </a:pPr>
            <a:r>
              <a:rPr lang="en-US" sz="4800" b="1" dirty="0">
                <a:solidFill>
                  <a:schemeClr val="accent2"/>
                </a:solidFill>
                <a:latin typeface="+mj-lt" pitchFamily="34" charset="0"/>
                <a:ea typeface="+mj-lt" pitchFamily="34" charset="-122"/>
                <a:cs typeface="+mj-lt" pitchFamily="34" charset="-120"/>
              </a:rPr>
              <a:t>$876</a:t>
            </a:r>
            <a:endParaRPr lang="en-US" sz="4800" dirty="0"/>
          </a:p>
        </p:txBody>
      </p:sp>
      <p:sp>
        <p:nvSpPr>
          <p:cNvPr id="4" name="Stat 1 caption"/>
          <p:cNvSpPr txBox="1"/>
          <p:nvPr/>
        </p:nvSpPr>
        <p:spPr>
          <a:xfrm>
            <a:off x="548640" y="2176272"/>
            <a:ext cx="4937760" cy="329184"/>
          </a:xfrm>
          <a:prstGeom prst="rect">
            <a:avLst/>
          </a:prstGeom>
          <a:noFill/>
          <a:ln/>
        </p:spPr>
        <p:txBody>
          <a:bodyPr wrap="square" lIns="0" tIns="0" rIns="0" bIns="0" rtlCol="0" anchor="ctr"/>
          <a:lstStyle/>
          <a:p>
            <a:pPr indent="0" marL="0">
              <a:buNone/>
            </a:pPr>
            <a:r>
              <a:rPr lang="en-US" sz="1500" dirty="0">
                <a:solidFill>
                  <a:schemeClr val="bg1"/>
                </a:solidFill>
              </a:rPr>
              <a:t>ACV earns on a deal that would have died</a:t>
            </a:r>
            <a:endParaRPr lang="en-US" sz="1500" dirty="0"/>
          </a:p>
        </p:txBody>
      </p:sp>
      <p:sp>
        <p:nvSpPr>
          <p:cNvPr id="5" name="Stat 2 number"/>
          <p:cNvSpPr txBox="1"/>
          <p:nvPr/>
        </p:nvSpPr>
        <p:spPr>
          <a:xfrm>
            <a:off x="548640" y="2651760"/>
            <a:ext cx="4937760" cy="731520"/>
          </a:xfrm>
          <a:prstGeom prst="rect">
            <a:avLst/>
          </a:prstGeom>
          <a:noFill/>
          <a:ln/>
        </p:spPr>
        <p:txBody>
          <a:bodyPr wrap="square" lIns="0" tIns="0" rIns="0" bIns="0" rtlCol="0" anchor="ctr"/>
          <a:lstStyle/>
          <a:p>
            <a:pPr indent="0" marL="0">
              <a:buNone/>
            </a:pPr>
            <a:r>
              <a:rPr lang="en-US" sz="4800" b="1" dirty="0">
                <a:solidFill>
                  <a:schemeClr val="accent2"/>
                </a:solidFill>
                <a:latin typeface="+mj-lt" pitchFamily="34" charset="0"/>
                <a:ea typeface="+mj-lt" pitchFamily="34" charset="-122"/>
                <a:cs typeface="+mj-lt" pitchFamily="34" charset="-120"/>
              </a:rPr>
              <a:t>+$349K</a:t>
            </a:r>
            <a:endParaRPr lang="en-US" sz="4800" dirty="0"/>
          </a:p>
        </p:txBody>
      </p:sp>
      <p:sp>
        <p:nvSpPr>
          <p:cNvPr id="6" name="Stat 2 caption"/>
          <p:cNvSpPr txBox="1"/>
          <p:nvPr/>
        </p:nvSpPr>
        <p:spPr>
          <a:xfrm>
            <a:off x="548640" y="3364992"/>
            <a:ext cx="4937760" cy="329184"/>
          </a:xfrm>
          <a:prstGeom prst="rect">
            <a:avLst/>
          </a:prstGeom>
          <a:noFill/>
          <a:ln/>
        </p:spPr>
        <p:txBody>
          <a:bodyPr wrap="square" lIns="0" tIns="0" rIns="0" bIns="0" rtlCol="0" anchor="ctr"/>
          <a:lstStyle/>
          <a:p>
            <a:pPr indent="0" marL="0">
              <a:buNone/>
            </a:pPr>
            <a:r>
              <a:rPr lang="en-US" sz="1500" dirty="0">
                <a:solidFill>
                  <a:schemeClr val="bg1"/>
                </a:solidFill>
              </a:rPr>
              <a:t>more for one 120-car fleet</a:t>
            </a:r>
            <a:endParaRPr lang="en-US" sz="1500" dirty="0"/>
          </a:p>
        </p:txBody>
      </p:sp>
      <p:sp>
        <p:nvSpPr>
          <p:cNvPr id="7" name="Stat 3 number"/>
          <p:cNvSpPr txBox="1"/>
          <p:nvPr/>
        </p:nvSpPr>
        <p:spPr>
          <a:xfrm>
            <a:off x="548640" y="3840480"/>
            <a:ext cx="4937760" cy="731520"/>
          </a:xfrm>
          <a:prstGeom prst="rect">
            <a:avLst/>
          </a:prstGeom>
          <a:noFill/>
          <a:ln/>
        </p:spPr>
        <p:txBody>
          <a:bodyPr wrap="square" lIns="0" tIns="0" rIns="0" bIns="0" rtlCol="0" anchor="ctr"/>
          <a:lstStyle/>
          <a:p>
            <a:pPr indent="0" marL="0">
              <a:buNone/>
            </a:pPr>
            <a:r>
              <a:rPr lang="en-US" sz="4800" b="1" dirty="0">
                <a:solidFill>
                  <a:schemeClr val="accent2"/>
                </a:solidFill>
                <a:latin typeface="+mj-lt" pitchFamily="34" charset="0"/>
                <a:ea typeface="+mj-lt" pitchFamily="34" charset="-122"/>
                <a:cs typeface="+mj-lt" pitchFamily="34" charset="-120"/>
              </a:rPr>
              <a:t>66%</a:t>
            </a:r>
            <a:endParaRPr lang="en-US" sz="4800" dirty="0"/>
          </a:p>
        </p:txBody>
      </p:sp>
      <p:sp>
        <p:nvSpPr>
          <p:cNvPr id="8" name="Stat 3 caption"/>
          <p:cNvSpPr txBox="1"/>
          <p:nvPr/>
        </p:nvSpPr>
        <p:spPr>
          <a:xfrm>
            <a:off x="548640" y="4553712"/>
            <a:ext cx="4937760" cy="329184"/>
          </a:xfrm>
          <a:prstGeom prst="rect">
            <a:avLst/>
          </a:prstGeom>
          <a:noFill/>
          <a:ln/>
        </p:spPr>
        <p:txBody>
          <a:bodyPr wrap="square" lIns="0" tIns="0" rIns="0" bIns="0" rtlCol="0" anchor="ctr"/>
          <a:lstStyle/>
          <a:p>
            <a:pPr indent="0" marL="0">
              <a:buNone/>
            </a:pPr>
            <a:r>
              <a:rPr lang="en-US" sz="1500" dirty="0">
                <a:solidFill>
                  <a:schemeClr val="bg1"/>
                </a:solidFill>
              </a:rPr>
              <a:t>lower transport cost per car</a:t>
            </a:r>
            <a:endParaRPr lang="en-US" sz="1500" dirty="0"/>
          </a:p>
        </p:txBody>
      </p:sp>
      <p:sp>
        <p:nvSpPr>
          <p:cNvPr id="9" name="Stats note"/>
          <p:cNvSpPr txBox="1"/>
          <p:nvPr/>
        </p:nvSpPr>
        <p:spPr>
          <a:xfrm>
            <a:off x="548640" y="4983480"/>
            <a:ext cx="4937760" cy="274320"/>
          </a:xfrm>
          <a:prstGeom prst="rect">
            <a:avLst/>
          </a:prstGeom>
          <a:noFill/>
          <a:ln/>
        </p:spPr>
        <p:txBody>
          <a:bodyPr wrap="square" lIns="0" tIns="0" rIns="0" bIns="0" rtlCol="0" anchor="ctr"/>
          <a:lstStyle/>
          <a:p>
            <a:pPr indent="0" marL="0">
              <a:buNone/>
            </a:pPr>
            <a:r>
              <a:rPr lang="en-US" sz="1100" i="1" dirty="0">
                <a:solidFill>
                  <a:schemeClr val="bg2"/>
                </a:solidFill>
              </a:rPr>
              <a:t>Numbers from our demo data</a:t>
            </a:r>
            <a:endParaRPr lang="en-US" sz="1100" dirty="0"/>
          </a:p>
        </p:txBody>
      </p:sp>
      <p:sp>
        <p:nvSpPr>
          <p:cNvPr id="10" name="Roadmap connector"/>
          <p:cNvSpPr/>
          <p:nvPr/>
        </p:nvSpPr>
        <p:spPr>
          <a:xfrm>
            <a:off x="6583680" y="1828800"/>
            <a:ext cx="0" cy="2377440"/>
          </a:xfrm>
          <a:prstGeom prst="line">
            <a:avLst/>
          </a:prstGeom>
          <a:noFill/>
          <a:ln w="38100">
            <a:solidFill>
              <a:schemeClr val="accent6"/>
            </a:solidFill>
            <a:prstDash val="solid"/>
          </a:ln>
        </p:spPr>
      </p:sp>
      <p:sp>
        <p:nvSpPr>
          <p:cNvPr id="11" name="Roadmap Today circle"/>
          <p:cNvSpPr/>
          <p:nvPr/>
        </p:nvSpPr>
        <p:spPr>
          <a:xfrm>
            <a:off x="6309360" y="1554480"/>
            <a:ext cx="548640" cy="548640"/>
          </a:xfrm>
          <a:prstGeom prst="ellipse">
            <a:avLst/>
          </a:prstGeom>
          <a:solidFill>
            <a:schemeClr val="accent1"/>
          </a:solidFill>
          <a:ln w="12700">
            <a:solidFill>
              <a:schemeClr val="accent1"/>
            </a:solidFill>
            <a:prstDash val="solid"/>
          </a:ln>
        </p:spPr>
      </p:sp>
      <p:sp>
        <p:nvSpPr>
          <p:cNvPr id="12" name="Roadmap Today number"/>
          <p:cNvSpPr txBox="1"/>
          <p:nvPr/>
        </p:nvSpPr>
        <p:spPr>
          <a:xfrm>
            <a:off x="6309360" y="1554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3" name="Roadmap Today heading"/>
          <p:cNvSpPr txBox="1"/>
          <p:nvPr/>
        </p:nvSpPr>
        <p:spPr>
          <a:xfrm>
            <a:off x="7086600" y="1536192"/>
            <a:ext cx="4556455" cy="329184"/>
          </a:xfrm>
          <a:prstGeom prst="rect">
            <a:avLst/>
          </a:prstGeom>
          <a:noFill/>
          <a:ln/>
        </p:spPr>
        <p:txBody>
          <a:bodyPr wrap="square" lIns="0" tIns="0" rIns="0" bIns="0" rtlCol="0" anchor="ctr"/>
          <a:lstStyle/>
          <a:p>
            <a:pPr indent="0" marL="0">
              <a:buNone/>
            </a:pPr>
            <a:r>
              <a:rPr lang="en-US" sz="1800" b="1" dirty="0">
                <a:solidFill>
                  <a:schemeClr val="bg1"/>
                </a:solidFill>
              </a:rPr>
              <a:t>Today</a:t>
            </a:r>
            <a:endParaRPr lang="en-US" sz="1800" dirty="0"/>
          </a:p>
        </p:txBody>
      </p:sp>
      <p:sp>
        <p:nvSpPr>
          <p:cNvPr id="14" name="Roadmap Today text"/>
          <p:cNvSpPr txBox="1"/>
          <p:nvPr/>
        </p:nvSpPr>
        <p:spPr>
          <a:xfrm>
            <a:off x="7086600" y="1883664"/>
            <a:ext cx="4556455" cy="685800"/>
          </a:xfrm>
          <a:prstGeom prst="rect">
            <a:avLst/>
          </a:prstGeom>
          <a:noFill/>
          <a:ln/>
        </p:spPr>
        <p:txBody>
          <a:bodyPr wrap="square" lIns="0" tIns="0" rIns="0" bIns="0" rtlCol="0" anchor="t"/>
          <a:lstStyle/>
          <a:p>
            <a:pPr indent="0" marL="0">
              <a:buNone/>
            </a:pPr>
            <a:r>
              <a:rPr lang="en-US" sz="1400" dirty="0">
                <a:solidFill>
                  <a:schemeClr val="bg2"/>
                </a:solidFill>
              </a:rPr>
              <a:t>4 working AI agents on demo data</a:t>
            </a:r>
            <a:endParaRPr lang="en-US" sz="1400" dirty="0"/>
          </a:p>
        </p:txBody>
      </p:sp>
      <p:sp>
        <p:nvSpPr>
          <p:cNvPr id="15" name="Roadmap Next circle"/>
          <p:cNvSpPr/>
          <p:nvPr/>
        </p:nvSpPr>
        <p:spPr>
          <a:xfrm>
            <a:off x="6309360" y="2743200"/>
            <a:ext cx="548640" cy="548640"/>
          </a:xfrm>
          <a:prstGeom prst="ellipse">
            <a:avLst/>
          </a:prstGeom>
          <a:solidFill>
            <a:schemeClr val="accent1"/>
          </a:solidFill>
          <a:ln w="12700">
            <a:solidFill>
              <a:schemeClr val="accent1"/>
            </a:solidFill>
            <a:prstDash val="solid"/>
          </a:ln>
        </p:spPr>
      </p:sp>
      <p:sp>
        <p:nvSpPr>
          <p:cNvPr id="16" name="Roadmap Next number"/>
          <p:cNvSpPr txBox="1"/>
          <p:nvPr/>
        </p:nvSpPr>
        <p:spPr>
          <a:xfrm>
            <a:off x="6309360" y="2743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7" name="Roadmap Next heading"/>
          <p:cNvSpPr txBox="1"/>
          <p:nvPr/>
        </p:nvSpPr>
        <p:spPr>
          <a:xfrm>
            <a:off x="7086600" y="2724912"/>
            <a:ext cx="4556455" cy="329184"/>
          </a:xfrm>
          <a:prstGeom prst="rect">
            <a:avLst/>
          </a:prstGeom>
          <a:noFill/>
          <a:ln/>
        </p:spPr>
        <p:txBody>
          <a:bodyPr wrap="square" lIns="0" tIns="0" rIns="0" bIns="0" rtlCol="0" anchor="ctr"/>
          <a:lstStyle/>
          <a:p>
            <a:pPr indent="0" marL="0">
              <a:buNone/>
            </a:pPr>
            <a:r>
              <a:rPr lang="en-US" sz="1800" b="1" dirty="0">
                <a:solidFill>
                  <a:schemeClr val="bg1"/>
                </a:solidFill>
              </a:rPr>
              <a:t>Next</a:t>
            </a:r>
            <a:endParaRPr lang="en-US" sz="1800" dirty="0"/>
          </a:p>
        </p:txBody>
      </p:sp>
      <p:sp>
        <p:nvSpPr>
          <p:cNvPr id="18" name="Roadmap Next text"/>
          <p:cNvSpPr txBox="1"/>
          <p:nvPr/>
        </p:nvSpPr>
        <p:spPr>
          <a:xfrm>
            <a:off x="7086600" y="3072384"/>
            <a:ext cx="4556455" cy="685800"/>
          </a:xfrm>
          <a:prstGeom prst="rect">
            <a:avLst/>
          </a:prstGeom>
          <a:noFill/>
          <a:ln/>
        </p:spPr>
        <p:txBody>
          <a:bodyPr wrap="square" lIns="0" tIns="0" rIns="0" bIns="0" rtlCol="0" anchor="t"/>
          <a:lstStyle/>
          <a:p>
            <a:pPr indent="0" marL="0">
              <a:buNone/>
            </a:pPr>
            <a:r>
              <a:rPr lang="en-US" sz="1400" dirty="0">
                <a:solidFill>
                  <a:schemeClr val="bg2"/>
                </a:solidFill>
              </a:rPr>
              <a:t>Connect to ACV + Copart inventory, inspections, financing and transport</a:t>
            </a:r>
            <a:endParaRPr lang="en-US" sz="1400" dirty="0"/>
          </a:p>
        </p:txBody>
      </p:sp>
      <p:sp>
        <p:nvSpPr>
          <p:cNvPr id="19" name="Roadmap Then circle"/>
          <p:cNvSpPr/>
          <p:nvPr/>
        </p:nvSpPr>
        <p:spPr>
          <a:xfrm>
            <a:off x="6309360" y="3931920"/>
            <a:ext cx="548640" cy="548640"/>
          </a:xfrm>
          <a:prstGeom prst="ellipse">
            <a:avLst/>
          </a:prstGeom>
          <a:solidFill>
            <a:schemeClr val="accent1"/>
          </a:solidFill>
          <a:ln w="12700">
            <a:solidFill>
              <a:schemeClr val="accent1"/>
            </a:solidFill>
            <a:prstDash val="solid"/>
          </a:ln>
        </p:spPr>
      </p:sp>
      <p:sp>
        <p:nvSpPr>
          <p:cNvPr id="20" name="Roadmap Then number"/>
          <p:cNvSpPr txBox="1"/>
          <p:nvPr/>
        </p:nvSpPr>
        <p:spPr>
          <a:xfrm>
            <a:off x="6309360" y="3931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Roadmap Then heading"/>
          <p:cNvSpPr txBox="1"/>
          <p:nvPr/>
        </p:nvSpPr>
        <p:spPr>
          <a:xfrm>
            <a:off x="7086600" y="3913632"/>
            <a:ext cx="4556455" cy="329184"/>
          </a:xfrm>
          <a:prstGeom prst="rect">
            <a:avLst/>
          </a:prstGeom>
          <a:noFill/>
          <a:ln/>
        </p:spPr>
        <p:txBody>
          <a:bodyPr wrap="square" lIns="0" tIns="0" rIns="0" bIns="0" rtlCol="0" anchor="ctr"/>
          <a:lstStyle/>
          <a:p>
            <a:pPr indent="0" marL="0">
              <a:buNone/>
            </a:pPr>
            <a:r>
              <a:rPr lang="en-US" sz="1800" b="1" dirty="0">
                <a:solidFill>
                  <a:schemeClr val="bg1"/>
                </a:solidFill>
              </a:rPr>
              <a:t>Then</a:t>
            </a:r>
            <a:endParaRPr lang="en-US" sz="1800" dirty="0"/>
          </a:p>
        </p:txBody>
      </p:sp>
      <p:sp>
        <p:nvSpPr>
          <p:cNvPr id="22" name="Roadmap Then text"/>
          <p:cNvSpPr txBox="1"/>
          <p:nvPr/>
        </p:nvSpPr>
        <p:spPr>
          <a:xfrm>
            <a:off x="7086600" y="4261104"/>
            <a:ext cx="4556455" cy="685800"/>
          </a:xfrm>
          <a:prstGeom prst="rect">
            <a:avLst/>
          </a:prstGeom>
          <a:noFill/>
          <a:ln/>
        </p:spPr>
        <p:txBody>
          <a:bodyPr wrap="square" lIns="0" tIns="0" rIns="0" bIns="0" rtlCol="0" anchor="t"/>
          <a:lstStyle/>
          <a:p>
            <a:pPr indent="0" marL="0">
              <a:buNone/>
            </a:pPr>
            <a:r>
              <a:rPr lang="en-US" sz="1400" dirty="0">
                <a:solidFill>
                  <a:schemeClr val="bg2"/>
                </a:solidFill>
              </a:rPr>
              <a:t>Car Health Score for lenders and insurers, more overseas buyers, consumer sellers</a:t>
            </a:r>
            <a:endParaRPr lang="en-US" sz="1400" dirty="0"/>
          </a:p>
        </p:txBody>
      </p:sp>
      <p:sp>
        <p:nvSpPr>
          <p:cNvPr id="23" name="Closing line"/>
          <p:cNvSpPr txBox="1"/>
          <p:nvPr/>
        </p:nvSpPr>
        <p:spPr>
          <a:xfrm>
            <a:off x="548640" y="5440680"/>
            <a:ext cx="11094415" cy="566928"/>
          </a:xfrm>
          <a:prstGeom prst="rect">
            <a:avLst/>
          </a:prstGeom>
          <a:noFill/>
          <a:ln/>
        </p:spPr>
        <p:txBody>
          <a:bodyPr wrap="square" lIns="0" tIns="0" rIns="0" bIns="0" rtlCol="0" anchor="ctr"/>
          <a:lstStyle/>
          <a:p>
            <a:pPr algn="ctr" indent="0" marL="0">
              <a:buNone/>
            </a:pPr>
            <a:r>
              <a:rPr lang="en-US" sz="3000" i="1" dirty="0">
                <a:solidFill>
                  <a:schemeClr val="bg1"/>
                </a:solidFill>
                <a:latin typeface="+mj-lt" pitchFamily="34" charset="0"/>
                <a:ea typeface="+mj-lt" pitchFamily="34" charset="-122"/>
                <a:cs typeface="+mj-lt" pitchFamily="34" charset="-120"/>
              </a:rPr>
              <a:t>Going once, going twice… </a:t>
            </a:r>
            <a:pPr algn="ctr" indent="0" marL="0">
              <a:buNone/>
            </a:pPr>
            <a:r>
              <a:rPr lang="en-US" sz="3000" b="1" i="1" dirty="0">
                <a:solidFill>
                  <a:schemeClr val="accent1"/>
                </a:solidFill>
                <a:latin typeface="+mj-lt" pitchFamily="34" charset="0"/>
                <a:ea typeface="+mj-lt" pitchFamily="34" charset="-122"/>
                <a:cs typeface="+mj-lt" pitchFamily="34" charset="-120"/>
              </a:rPr>
              <a:t>SOLD.</a:t>
            </a:r>
            <a:endParaRPr lang="en-US" sz="3000" dirty="0"/>
          </a:p>
        </p:txBody>
      </p:sp>
      <p:sp>
        <p:nvSpPr>
          <p:cNvPr id="24" name="Mentor note"/>
          <p:cNvSpPr txBox="1"/>
          <p:nvPr/>
        </p:nvSpPr>
        <p:spPr>
          <a:xfrm>
            <a:off x="548640" y="5989320"/>
            <a:ext cx="11094415" cy="292608"/>
          </a:xfrm>
          <a:prstGeom prst="rect">
            <a:avLst/>
          </a:prstGeom>
          <a:noFill/>
          <a:ln/>
        </p:spPr>
        <p:txBody>
          <a:bodyPr wrap="square" lIns="0" tIns="0" rIns="0" bIns="0" rtlCol="0" anchor="ctr"/>
          <a:lstStyle/>
          <a:p>
            <a:pPr algn="ctr" indent="0" marL="0">
              <a:buNone/>
            </a:pPr>
            <a:r>
              <a:rPr lang="en-US" sz="1200" dirty="0">
                <a:solidFill>
                  <a:schemeClr val="bg2"/>
                </a:solidFill>
              </a:rPr>
              <a:t>Shaped by feedback from ACV mentors at the hackathon</a:t>
            </a:r>
            <a:endParaRPr lang="en-US" sz="12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GoingOnce">
  <a:themeElements>
    <a:clrScheme name="GoingOnce">
      <a:dk1>
        <a:srgbClr val="0F1C2E"/>
      </a:dk1>
      <a:lt1>
        <a:srgbClr val="FFFFFF"/>
      </a:lt1>
      <a:dk2>
        <a:srgbClr val="5B6B7F"/>
      </a:dk2>
      <a:lt2>
        <a:srgbClr val="F3F5F8"/>
      </a:lt2>
      <a:accent1>
        <a:srgbClr val="FF6B35"/>
      </a:accent1>
      <a:accent2>
        <a:srgbClr val="FFC145"/>
      </a:accent2>
      <a:accent3>
        <a:srgbClr val="1FA187"/>
      </a:accent3>
      <a:accent4>
        <a:srgbClr val="3D7BF7"/>
      </a:accent4>
      <a:accent5>
        <a:srgbClr val="7C5CFA"/>
      </a:accent5>
      <a:accent6>
        <a:srgbClr val="1E2E45"/>
      </a:accent6>
      <a:hlink>
        <a:srgbClr val="3D7BF7"/>
      </a:hlink>
      <a:folHlink>
        <a:srgbClr val="7C5CFA"/>
      </a:folHlink>
    </a:clrScheme>
    <a:fontScheme name="GoingO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GoingOnce</dc:title>
  <dc:subject>PptxGenJS Presentation</dc:subject>
  <dc:creator>Team GoingOnce</dc:creator>
  <cp:lastModifiedBy>Team GoingOnce</cp:lastModifiedBy>
  <cp:revision>1</cp:revision>
  <dcterms:created xsi:type="dcterms:W3CDTF">2026-10-03T18:24:07Z</dcterms:created>
  <dcterms:modified xsi:type="dcterms:W3CDTF">2026-10-03T18:24:07Z</dcterms:modified>
</cp:coreProperties>
</file>